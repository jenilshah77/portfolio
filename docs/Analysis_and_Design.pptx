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4630400" cy="8229600"/>
  <p:notesSz cx="8229600" cy="14630400"/>
  <p:embeddedFontLst>
    <p:embeddedFont>
      <p:font typeface="Unbounded"/>
      <p:regular r:id="rId14"/>
    </p:embeddedFont>
    <p:embeddedFont>
      <p:font typeface="Unbounded"/>
      <p:regular r:id="rId15"/>
    </p:embeddedFont>
    <p:embeddedFont>
      <p:font typeface="Open Sans"/>
      <p:regular r:id="rId16"/>
    </p:embeddedFont>
    <p:embeddedFont>
      <p:font typeface="Open Sans"/>
      <p:regular r:id="rId17"/>
    </p:embeddedFont>
    <p:embeddedFont>
      <p:font typeface="Open Sans"/>
      <p:regular r:id="rId18"/>
    </p:embeddedFont>
    <p:embeddedFont>
      <p:font typeface="Open Sans"/>
      <p:regular r:id="rId1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s://www.figma.com/file/vBg6K0SKkcZcGsJSbGYXXA/EventRaze" TargetMode="External"/><Relationship Id="rId1" Type="http://schemas.openxmlformats.org/officeDocument/2006/relationships/image" Target="../media/image-4-1.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939403"/>
            <a:ext cx="7556421" cy="2126337"/>
          </a:xfrm>
          <a:prstGeom prst="rect">
            <a:avLst/>
          </a:prstGeom>
          <a:noFill/>
          <a:ln/>
        </p:spPr>
        <p:txBody>
          <a:bodyPr wrap="square" lIns="0" tIns="0" rIns="0" bIns="0" rtlCol="0" anchor="t"/>
          <a:lstStyle/>
          <a:p>
            <a:pPr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EventRaze: Revolutionizing Event Management</a:t>
            </a:r>
            <a:endParaRPr lang="en-US" sz="4450" dirty="0"/>
          </a:p>
        </p:txBody>
      </p:sp>
      <p:sp>
        <p:nvSpPr>
          <p:cNvPr id="4" name="Text 1"/>
          <p:cNvSpPr/>
          <p:nvPr/>
        </p:nvSpPr>
        <p:spPr>
          <a:xfrm>
            <a:off x="793790" y="3405902"/>
            <a:ext cx="7556421" cy="2177415"/>
          </a:xfrm>
          <a:prstGeom prst="rect">
            <a:avLst/>
          </a:prstGeom>
          <a:noFill/>
          <a:ln/>
        </p:spPr>
        <p:txBody>
          <a:bodyPr wrap="square" lIns="0" tIns="0" rIns="0" bIns="0" rtlCol="0" anchor="t"/>
          <a:lstStyle/>
          <a:p>
            <a:pPr indent="0" marL="0">
              <a:lnSpc>
                <a:spcPts val="2850"/>
              </a:lnSpc>
              <a:buNone/>
            </a:pPr>
            <a:r>
              <a:rPr lang="en-US" sz="1750" dirty="0">
                <a:solidFill>
                  <a:srgbClr val="333F70"/>
                </a:solidFill>
                <a:latin typeface="Open Sans" pitchFamily="34" charset="0"/>
                <a:ea typeface="Open Sans" pitchFamily="34" charset="-122"/>
                <a:cs typeface="Open Sans" pitchFamily="34" charset="-120"/>
              </a:rPr>
              <a:t>Welcome to EventRaze, your comprehensive solution for seamless event planning and execution. We're here to transform the way you create, manage, and experience events. Our innovative platform combines cutting-edge technology with user-friendly interfaces to streamline every aspect of event management, from registration to analytics.</a:t>
            </a:r>
            <a:endParaRPr lang="en-US" sz="1750" dirty="0"/>
          </a:p>
        </p:txBody>
      </p:sp>
      <p:sp>
        <p:nvSpPr>
          <p:cNvPr id="5" name="Text 2"/>
          <p:cNvSpPr/>
          <p:nvPr/>
        </p:nvSpPr>
        <p:spPr>
          <a:xfrm>
            <a:off x="793790" y="5838468"/>
            <a:ext cx="7556421" cy="1451610"/>
          </a:xfrm>
          <a:prstGeom prst="rect">
            <a:avLst/>
          </a:prstGeom>
          <a:noFill/>
          <a:ln/>
        </p:spPr>
        <p:txBody>
          <a:bodyPr wrap="square" lIns="0" tIns="0" rIns="0" bIns="0" rtlCol="0" anchor="t"/>
          <a:lstStyle/>
          <a:p>
            <a:pPr indent="0" marL="0">
              <a:lnSpc>
                <a:spcPts val="2850"/>
              </a:lnSpc>
              <a:buNone/>
            </a:pPr>
            <a:r>
              <a:rPr lang="en-US" sz="1750" dirty="0">
                <a:solidFill>
                  <a:srgbClr val="333F70"/>
                </a:solidFill>
                <a:latin typeface="Open Sans" pitchFamily="34" charset="0"/>
                <a:ea typeface="Open Sans" pitchFamily="34" charset="-122"/>
                <a:cs typeface="Open Sans" pitchFamily="34" charset="-120"/>
              </a:rPr>
              <a:t>Join us as we explore how EventRaze is set to redefine the event industry, empowering organizers and delighting attendees alike. Let's embark on this exciting journey to make every event an unforgettable success.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293971"/>
            <a:ext cx="9203769" cy="708779"/>
          </a:xfrm>
          <a:prstGeom prst="rect">
            <a:avLst/>
          </a:prstGeom>
          <a:noFill/>
          <a:ln/>
        </p:spPr>
        <p:txBody>
          <a:bodyPr wrap="none" lIns="0" tIns="0" rIns="0" bIns="0" rtlCol="0" anchor="t"/>
          <a:lstStyle/>
          <a:p>
            <a:pPr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Meet the EventRaze Team</a:t>
            </a:r>
            <a:endParaRPr lang="en-US" sz="4450" dirty="0"/>
          </a:p>
        </p:txBody>
      </p:sp>
      <p:pic>
        <p:nvPicPr>
          <p:cNvPr id="3" name="Image 0" descr="preencoded.png">    </p:cNvPr>
          <p:cNvPicPr>
            <a:picLocks noChangeAspect="1"/>
          </p:cNvPicPr>
          <p:nvPr/>
        </p:nvPicPr>
        <p:blipFill>
          <a:blip r:embed="rId1"/>
          <a:stretch>
            <a:fillRect/>
          </a:stretch>
        </p:blipFill>
        <p:spPr>
          <a:xfrm>
            <a:off x="793790" y="2342912"/>
            <a:ext cx="566976" cy="566976"/>
          </a:xfrm>
          <a:prstGeom prst="rect">
            <a:avLst/>
          </a:prstGeom>
        </p:spPr>
      </p:pic>
      <p:sp>
        <p:nvSpPr>
          <p:cNvPr id="4" name="Text 1"/>
          <p:cNvSpPr/>
          <p:nvPr/>
        </p:nvSpPr>
        <p:spPr>
          <a:xfrm>
            <a:off x="793790" y="3136702"/>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Kalp Senghani</a:t>
            </a:r>
            <a:endParaRPr lang="en-US" sz="2200" dirty="0"/>
          </a:p>
        </p:txBody>
      </p:sp>
      <p:sp>
        <p:nvSpPr>
          <p:cNvPr id="5" name="Text 2"/>
          <p:cNvSpPr/>
          <p:nvPr/>
        </p:nvSpPr>
        <p:spPr>
          <a:xfrm>
            <a:off x="793790" y="3627120"/>
            <a:ext cx="4120753" cy="362903"/>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Backend Development </a:t>
            </a:r>
            <a:endParaRPr lang="en-US" sz="1750" dirty="0"/>
          </a:p>
        </p:txBody>
      </p:sp>
      <p:pic>
        <p:nvPicPr>
          <p:cNvPr id="6" name="Image 1" descr="preencoded.png">    </p:cNvPr>
          <p:cNvPicPr>
            <a:picLocks noChangeAspect="1"/>
          </p:cNvPicPr>
          <p:nvPr/>
        </p:nvPicPr>
        <p:blipFill>
          <a:blip r:embed="rId2"/>
          <a:stretch>
            <a:fillRect/>
          </a:stretch>
        </p:blipFill>
        <p:spPr>
          <a:xfrm>
            <a:off x="5254704" y="2342912"/>
            <a:ext cx="566976" cy="566976"/>
          </a:xfrm>
          <a:prstGeom prst="rect">
            <a:avLst/>
          </a:prstGeom>
        </p:spPr>
      </p:pic>
      <p:sp>
        <p:nvSpPr>
          <p:cNvPr id="7" name="Text 3"/>
          <p:cNvSpPr/>
          <p:nvPr/>
        </p:nvSpPr>
        <p:spPr>
          <a:xfrm>
            <a:off x="5254704" y="3136702"/>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Diya Patel</a:t>
            </a:r>
            <a:endParaRPr lang="en-US" sz="2200" dirty="0"/>
          </a:p>
        </p:txBody>
      </p:sp>
      <p:sp>
        <p:nvSpPr>
          <p:cNvPr id="8" name="Text 4"/>
          <p:cNvSpPr/>
          <p:nvPr/>
        </p:nvSpPr>
        <p:spPr>
          <a:xfrm>
            <a:off x="5254704" y="3627120"/>
            <a:ext cx="4120872" cy="362903"/>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Frontend Development </a:t>
            </a:r>
            <a:endParaRPr lang="en-US" sz="1750" dirty="0"/>
          </a:p>
        </p:txBody>
      </p:sp>
      <p:pic>
        <p:nvPicPr>
          <p:cNvPr id="9" name="Image 2" descr="preencoded.png">    </p:cNvPr>
          <p:cNvPicPr>
            <a:picLocks noChangeAspect="1"/>
          </p:cNvPicPr>
          <p:nvPr/>
        </p:nvPicPr>
        <p:blipFill>
          <a:blip r:embed="rId3"/>
          <a:stretch>
            <a:fillRect/>
          </a:stretch>
        </p:blipFill>
        <p:spPr>
          <a:xfrm>
            <a:off x="9715738" y="2342912"/>
            <a:ext cx="566976" cy="566976"/>
          </a:xfrm>
          <a:prstGeom prst="rect">
            <a:avLst/>
          </a:prstGeom>
        </p:spPr>
      </p:pic>
      <p:sp>
        <p:nvSpPr>
          <p:cNvPr id="10" name="Text 5"/>
          <p:cNvSpPr/>
          <p:nvPr/>
        </p:nvSpPr>
        <p:spPr>
          <a:xfrm>
            <a:off x="9715738" y="3136702"/>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Jenil Shah</a:t>
            </a:r>
            <a:endParaRPr lang="en-US" sz="2200" dirty="0"/>
          </a:p>
        </p:txBody>
      </p:sp>
      <p:sp>
        <p:nvSpPr>
          <p:cNvPr id="11" name="Text 6"/>
          <p:cNvSpPr/>
          <p:nvPr/>
        </p:nvSpPr>
        <p:spPr>
          <a:xfrm>
            <a:off x="9715738" y="3627120"/>
            <a:ext cx="4120753" cy="362903"/>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Database Design Specialist</a:t>
            </a:r>
            <a:endParaRPr lang="en-US" sz="1750" dirty="0"/>
          </a:p>
        </p:txBody>
      </p:sp>
      <p:pic>
        <p:nvPicPr>
          <p:cNvPr id="12" name="Image 3" descr="preencoded.png">    </p:cNvPr>
          <p:cNvPicPr>
            <a:picLocks noChangeAspect="1"/>
          </p:cNvPicPr>
          <p:nvPr/>
        </p:nvPicPr>
        <p:blipFill>
          <a:blip r:embed="rId4"/>
          <a:stretch>
            <a:fillRect/>
          </a:stretch>
        </p:blipFill>
        <p:spPr>
          <a:xfrm>
            <a:off x="793790" y="4670465"/>
            <a:ext cx="566976" cy="566976"/>
          </a:xfrm>
          <a:prstGeom prst="rect">
            <a:avLst/>
          </a:prstGeom>
        </p:spPr>
      </p:pic>
      <p:sp>
        <p:nvSpPr>
          <p:cNvPr id="13" name="Text 7"/>
          <p:cNvSpPr/>
          <p:nvPr/>
        </p:nvSpPr>
        <p:spPr>
          <a:xfrm>
            <a:off x="793790" y="5464254"/>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Neel Kinariwala</a:t>
            </a:r>
            <a:endParaRPr lang="en-US" sz="2200" dirty="0"/>
          </a:p>
        </p:txBody>
      </p:sp>
      <p:sp>
        <p:nvSpPr>
          <p:cNvPr id="14" name="Text 8"/>
          <p:cNvSpPr/>
          <p:nvPr/>
        </p:nvSpPr>
        <p:spPr>
          <a:xfrm>
            <a:off x="793790" y="5954673"/>
            <a:ext cx="4120753" cy="362903"/>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Deployment and Infrastructure</a:t>
            </a:r>
            <a:endParaRPr lang="en-US" sz="1750" dirty="0"/>
          </a:p>
        </p:txBody>
      </p:sp>
      <p:pic>
        <p:nvPicPr>
          <p:cNvPr id="15" name="Image 4" descr="preencoded.png">    </p:cNvPr>
          <p:cNvPicPr>
            <a:picLocks noChangeAspect="1"/>
          </p:cNvPicPr>
          <p:nvPr/>
        </p:nvPicPr>
        <p:blipFill>
          <a:blip r:embed="rId5"/>
          <a:stretch>
            <a:fillRect/>
          </a:stretch>
        </p:blipFill>
        <p:spPr>
          <a:xfrm>
            <a:off x="5254704" y="4670465"/>
            <a:ext cx="566976" cy="566976"/>
          </a:xfrm>
          <a:prstGeom prst="rect">
            <a:avLst/>
          </a:prstGeom>
        </p:spPr>
      </p:pic>
      <p:sp>
        <p:nvSpPr>
          <p:cNvPr id="16" name="Text 9"/>
          <p:cNvSpPr/>
          <p:nvPr/>
        </p:nvSpPr>
        <p:spPr>
          <a:xfrm>
            <a:off x="5254704" y="5464254"/>
            <a:ext cx="3602236"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Leela Krishna Reddy</a:t>
            </a:r>
            <a:endParaRPr lang="en-US" sz="2200" dirty="0"/>
          </a:p>
        </p:txBody>
      </p:sp>
      <p:sp>
        <p:nvSpPr>
          <p:cNvPr id="17" name="Text 10"/>
          <p:cNvSpPr/>
          <p:nvPr/>
        </p:nvSpPr>
        <p:spPr>
          <a:xfrm>
            <a:off x="5254704" y="5954673"/>
            <a:ext cx="4120872" cy="362903"/>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Debugging and Testing</a:t>
            </a:r>
            <a:endParaRPr lang="en-US" sz="1750" dirty="0"/>
          </a:p>
        </p:txBody>
      </p:sp>
      <p:pic>
        <p:nvPicPr>
          <p:cNvPr id="18" name="Image 5" descr="preencoded.png">    </p:cNvPr>
          <p:cNvPicPr>
            <a:picLocks noChangeAspect="1"/>
          </p:cNvPicPr>
          <p:nvPr/>
        </p:nvPicPr>
        <p:blipFill>
          <a:blip r:embed="rId6"/>
          <a:stretch>
            <a:fillRect/>
          </a:stretch>
        </p:blipFill>
        <p:spPr>
          <a:xfrm>
            <a:off x="9715738" y="4670465"/>
            <a:ext cx="566976" cy="566976"/>
          </a:xfrm>
          <a:prstGeom prst="rect">
            <a:avLst/>
          </a:prstGeom>
        </p:spPr>
      </p:pic>
      <p:sp>
        <p:nvSpPr>
          <p:cNvPr id="19" name="Text 11"/>
          <p:cNvSpPr/>
          <p:nvPr/>
        </p:nvSpPr>
        <p:spPr>
          <a:xfrm>
            <a:off x="9715738" y="5464254"/>
            <a:ext cx="3011448" cy="354330"/>
          </a:xfrm>
          <a:prstGeom prst="rect">
            <a:avLst/>
          </a:prstGeom>
          <a:noFill/>
          <a:ln/>
        </p:spPr>
        <p:txBody>
          <a:bodyPr wrap="none" lIns="0" tIns="0" rIns="0" bIns="0" rtlCol="0" anchor="t"/>
          <a:lstStyle/>
          <a:p>
            <a:pPr algn="l"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Matthew Pollock</a:t>
            </a:r>
            <a:endParaRPr lang="en-US" sz="2200" dirty="0"/>
          </a:p>
        </p:txBody>
      </p:sp>
      <p:sp>
        <p:nvSpPr>
          <p:cNvPr id="20" name="Text 12"/>
          <p:cNvSpPr/>
          <p:nvPr/>
        </p:nvSpPr>
        <p:spPr>
          <a:xfrm>
            <a:off x="9715738" y="5954673"/>
            <a:ext cx="4120753" cy="362903"/>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Documentation and Presentation</a:t>
            </a:r>
            <a:endParaRPr lang="en-US" sz="1750" dirty="0"/>
          </a:p>
        </p:txBody>
      </p:sp>
      <p:sp>
        <p:nvSpPr>
          <p:cNvPr id="21" name="Text 13"/>
          <p:cNvSpPr/>
          <p:nvPr/>
        </p:nvSpPr>
        <p:spPr>
          <a:xfrm>
            <a:off x="793790" y="6572726"/>
            <a:ext cx="13042821" cy="362903"/>
          </a:xfrm>
          <a:prstGeom prst="rect">
            <a:avLst/>
          </a:prstGeom>
          <a:noFill/>
          <a:ln/>
        </p:spPr>
        <p:txBody>
          <a:bodyPr wrap="none" lIns="0" tIns="0" rIns="0" bIns="0" rtlCol="0" anchor="t"/>
          <a:lstStyle/>
          <a:p>
            <a:pPr indent="0" marL="0">
              <a:lnSpc>
                <a:spcPts val="2850"/>
              </a:lnSpc>
              <a:buNone/>
            </a:pP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6862" y="476845"/>
            <a:ext cx="7580471" cy="541853"/>
          </a:xfrm>
          <a:prstGeom prst="rect">
            <a:avLst/>
          </a:prstGeom>
          <a:noFill/>
          <a:ln/>
        </p:spPr>
        <p:txBody>
          <a:bodyPr wrap="none" lIns="0" tIns="0" rIns="0" bIns="0" rtlCol="0" anchor="t"/>
          <a:lstStyle/>
          <a:p>
            <a:pPr indent="0" marL="0">
              <a:lnSpc>
                <a:spcPts val="4250"/>
              </a:lnSpc>
              <a:buNone/>
            </a:pPr>
            <a:r>
              <a:rPr lang="en-US" sz="3400" b="1" dirty="0">
                <a:solidFill>
                  <a:srgbClr val="333F70"/>
                </a:solidFill>
                <a:latin typeface="Unbounded Bold" pitchFamily="34" charset="0"/>
                <a:ea typeface="Unbounded Bold" pitchFamily="34" charset="-122"/>
                <a:cs typeface="Unbounded Bold" pitchFamily="34" charset="-120"/>
              </a:rPr>
              <a:t>Core Features of EventRaze</a:t>
            </a:r>
            <a:endParaRPr lang="en-US" sz="3400" dirty="0"/>
          </a:p>
        </p:txBody>
      </p:sp>
      <p:pic>
        <p:nvPicPr>
          <p:cNvPr id="3" name="Image 0" descr="preencoded.png">    </p:cNvPr>
          <p:cNvPicPr>
            <a:picLocks noChangeAspect="1"/>
          </p:cNvPicPr>
          <p:nvPr/>
        </p:nvPicPr>
        <p:blipFill>
          <a:blip r:embed="rId1"/>
          <a:stretch>
            <a:fillRect/>
          </a:stretch>
        </p:blipFill>
        <p:spPr>
          <a:xfrm>
            <a:off x="3296841" y="1365528"/>
            <a:ext cx="1328142" cy="999173"/>
          </a:xfrm>
          <a:prstGeom prst="rect">
            <a:avLst/>
          </a:prstGeom>
        </p:spPr>
      </p:pic>
      <p:sp>
        <p:nvSpPr>
          <p:cNvPr id="4" name="Text 1"/>
          <p:cNvSpPr/>
          <p:nvPr/>
        </p:nvSpPr>
        <p:spPr>
          <a:xfrm>
            <a:off x="3904536" y="1815465"/>
            <a:ext cx="112752" cy="346829"/>
          </a:xfrm>
          <a:prstGeom prst="rect">
            <a:avLst/>
          </a:prstGeom>
          <a:noFill/>
          <a:ln/>
        </p:spPr>
        <p:txBody>
          <a:bodyPr wrap="none" lIns="0" tIns="0" rIns="0" bIns="0" rtlCol="0" anchor="t"/>
          <a:lstStyle/>
          <a:p>
            <a:pPr algn="ctr" indent="0" marL="0">
              <a:lnSpc>
                <a:spcPts val="2700"/>
              </a:lnSpc>
              <a:buNone/>
            </a:pPr>
            <a:r>
              <a:rPr lang="en-US" sz="1700" b="1" dirty="0">
                <a:solidFill>
                  <a:srgbClr val="333F70"/>
                </a:solidFill>
                <a:latin typeface="Unbounded Bold" pitchFamily="34" charset="0"/>
                <a:ea typeface="Unbounded Bold" pitchFamily="34" charset="-122"/>
                <a:cs typeface="Unbounded Bold" pitchFamily="34" charset="-120"/>
              </a:rPr>
              <a:t>1</a:t>
            </a:r>
            <a:endParaRPr lang="en-US" sz="1700" dirty="0"/>
          </a:p>
        </p:txBody>
      </p:sp>
      <p:sp>
        <p:nvSpPr>
          <p:cNvPr id="5" name="Text 2"/>
          <p:cNvSpPr/>
          <p:nvPr/>
        </p:nvSpPr>
        <p:spPr>
          <a:xfrm>
            <a:off x="4798338" y="1538883"/>
            <a:ext cx="4187071" cy="270986"/>
          </a:xfrm>
          <a:prstGeom prst="rect">
            <a:avLst/>
          </a:prstGeom>
          <a:noFill/>
          <a:ln/>
        </p:spPr>
        <p:txBody>
          <a:bodyPr wrap="none" lIns="0" tIns="0" rIns="0" bIns="0" rtlCol="0" anchor="t"/>
          <a:lstStyle/>
          <a:p>
            <a:pPr algn="l" indent="0" marL="0">
              <a:lnSpc>
                <a:spcPts val="2100"/>
              </a:lnSpc>
              <a:buNone/>
            </a:pPr>
            <a:r>
              <a:rPr lang="en-US" sz="1700" b="1" dirty="0">
                <a:solidFill>
                  <a:srgbClr val="333F70"/>
                </a:solidFill>
                <a:latin typeface="Unbounded Bold" pitchFamily="34" charset="0"/>
                <a:ea typeface="Unbounded Bold" pitchFamily="34" charset="-122"/>
                <a:cs typeface="Unbounded Bold" pitchFamily="34" charset="-120"/>
              </a:rPr>
              <a:t>Event Creation &amp; Management</a:t>
            </a:r>
            <a:endParaRPr lang="en-US" sz="1700" dirty="0"/>
          </a:p>
        </p:txBody>
      </p:sp>
      <p:sp>
        <p:nvSpPr>
          <p:cNvPr id="6" name="Text 3"/>
          <p:cNvSpPr/>
          <p:nvPr/>
        </p:nvSpPr>
        <p:spPr>
          <a:xfrm>
            <a:off x="4798338" y="1913811"/>
            <a:ext cx="4187071" cy="277535"/>
          </a:xfrm>
          <a:prstGeom prst="rect">
            <a:avLst/>
          </a:prstGeom>
          <a:noFill/>
          <a:ln/>
        </p:spPr>
        <p:txBody>
          <a:bodyPr wrap="none" lIns="0" tIns="0" rIns="0" bIns="0" rtlCol="0" anchor="t"/>
          <a:lstStyle/>
          <a:p>
            <a:pPr algn="l" indent="0" marL="0">
              <a:lnSpc>
                <a:spcPts val="2150"/>
              </a:lnSpc>
              <a:buNone/>
            </a:pPr>
            <a:r>
              <a:rPr lang="en-US" sz="1350" dirty="0">
                <a:solidFill>
                  <a:srgbClr val="333F70"/>
                </a:solidFill>
                <a:latin typeface="Open Sans" pitchFamily="34" charset="0"/>
                <a:ea typeface="Open Sans" pitchFamily="34" charset="-122"/>
                <a:cs typeface="Open Sans" pitchFamily="34" charset="-120"/>
              </a:rPr>
              <a:t>Effortless setup and configuration</a:t>
            </a:r>
            <a:endParaRPr lang="en-US" sz="1350" dirty="0"/>
          </a:p>
        </p:txBody>
      </p:sp>
      <p:sp>
        <p:nvSpPr>
          <p:cNvPr id="7" name="Shape 4"/>
          <p:cNvSpPr/>
          <p:nvPr/>
        </p:nvSpPr>
        <p:spPr>
          <a:xfrm>
            <a:off x="4668322" y="2376845"/>
            <a:ext cx="9311878" cy="11430"/>
          </a:xfrm>
          <a:prstGeom prst="roundRect">
            <a:avLst>
              <a:gd name="adj" fmla="val 637250"/>
            </a:avLst>
          </a:prstGeom>
          <a:solidFill>
            <a:srgbClr val="BCDBD4"/>
          </a:solidFill>
          <a:ln/>
        </p:spPr>
      </p:sp>
      <p:pic>
        <p:nvPicPr>
          <p:cNvPr id="8" name="Image 1" descr="preencoded.png">    </p:cNvPr>
          <p:cNvPicPr>
            <a:picLocks noChangeAspect="1"/>
          </p:cNvPicPr>
          <p:nvPr/>
        </p:nvPicPr>
        <p:blipFill>
          <a:blip r:embed="rId2"/>
          <a:stretch>
            <a:fillRect/>
          </a:stretch>
        </p:blipFill>
        <p:spPr>
          <a:xfrm>
            <a:off x="2632710" y="2408039"/>
            <a:ext cx="2656403" cy="999173"/>
          </a:xfrm>
          <a:prstGeom prst="rect">
            <a:avLst/>
          </a:prstGeom>
        </p:spPr>
      </p:pic>
      <p:sp>
        <p:nvSpPr>
          <p:cNvPr id="9" name="Text 5"/>
          <p:cNvSpPr/>
          <p:nvPr/>
        </p:nvSpPr>
        <p:spPr>
          <a:xfrm>
            <a:off x="3870365" y="2734151"/>
            <a:ext cx="180975" cy="346829"/>
          </a:xfrm>
          <a:prstGeom prst="rect">
            <a:avLst/>
          </a:prstGeom>
          <a:noFill/>
          <a:ln/>
        </p:spPr>
        <p:txBody>
          <a:bodyPr wrap="none" lIns="0" tIns="0" rIns="0" bIns="0" rtlCol="0" anchor="t"/>
          <a:lstStyle/>
          <a:p>
            <a:pPr algn="ctr" indent="0" marL="0">
              <a:lnSpc>
                <a:spcPts val="2700"/>
              </a:lnSpc>
              <a:buNone/>
            </a:pPr>
            <a:r>
              <a:rPr lang="en-US" sz="1700" b="1" dirty="0">
                <a:solidFill>
                  <a:srgbClr val="333F70"/>
                </a:solidFill>
                <a:latin typeface="Unbounded Bold" pitchFamily="34" charset="0"/>
                <a:ea typeface="Unbounded Bold" pitchFamily="34" charset="-122"/>
                <a:cs typeface="Unbounded Bold" pitchFamily="34" charset="-120"/>
              </a:rPr>
              <a:t>2</a:t>
            </a:r>
            <a:endParaRPr lang="en-US" sz="1700" dirty="0"/>
          </a:p>
        </p:txBody>
      </p:sp>
      <p:sp>
        <p:nvSpPr>
          <p:cNvPr id="10" name="Text 6"/>
          <p:cNvSpPr/>
          <p:nvPr/>
        </p:nvSpPr>
        <p:spPr>
          <a:xfrm>
            <a:off x="5462468" y="2581394"/>
            <a:ext cx="4761667" cy="270986"/>
          </a:xfrm>
          <a:prstGeom prst="rect">
            <a:avLst/>
          </a:prstGeom>
          <a:noFill/>
          <a:ln/>
        </p:spPr>
        <p:txBody>
          <a:bodyPr wrap="none" lIns="0" tIns="0" rIns="0" bIns="0" rtlCol="0" anchor="t"/>
          <a:lstStyle/>
          <a:p>
            <a:pPr algn="l" indent="0" marL="0">
              <a:lnSpc>
                <a:spcPts val="2100"/>
              </a:lnSpc>
              <a:buNone/>
            </a:pPr>
            <a:r>
              <a:rPr lang="en-US" sz="1700" b="1" dirty="0">
                <a:solidFill>
                  <a:srgbClr val="333F70"/>
                </a:solidFill>
                <a:latin typeface="Unbounded Bold" pitchFamily="34" charset="0"/>
                <a:ea typeface="Unbounded Bold" pitchFamily="34" charset="-122"/>
                <a:cs typeface="Unbounded Bold" pitchFamily="34" charset="-120"/>
              </a:rPr>
              <a:t>User Registration &amp; Authentication</a:t>
            </a:r>
            <a:endParaRPr lang="en-US" sz="1700" dirty="0"/>
          </a:p>
        </p:txBody>
      </p:sp>
      <p:sp>
        <p:nvSpPr>
          <p:cNvPr id="11" name="Text 7"/>
          <p:cNvSpPr/>
          <p:nvPr/>
        </p:nvSpPr>
        <p:spPr>
          <a:xfrm>
            <a:off x="5462468" y="2956322"/>
            <a:ext cx="4761667" cy="277535"/>
          </a:xfrm>
          <a:prstGeom prst="rect">
            <a:avLst/>
          </a:prstGeom>
          <a:noFill/>
          <a:ln/>
        </p:spPr>
        <p:txBody>
          <a:bodyPr wrap="none" lIns="0" tIns="0" rIns="0" bIns="0" rtlCol="0" anchor="t"/>
          <a:lstStyle/>
          <a:p>
            <a:pPr algn="l" indent="0" marL="0">
              <a:lnSpc>
                <a:spcPts val="2150"/>
              </a:lnSpc>
              <a:buNone/>
            </a:pPr>
            <a:r>
              <a:rPr lang="en-US" sz="1350" dirty="0">
                <a:solidFill>
                  <a:srgbClr val="333F70"/>
                </a:solidFill>
                <a:latin typeface="Open Sans" pitchFamily="34" charset="0"/>
                <a:ea typeface="Open Sans" pitchFamily="34" charset="-122"/>
                <a:cs typeface="Open Sans" pitchFamily="34" charset="-120"/>
              </a:rPr>
              <a:t>Secure and streamlined access</a:t>
            </a:r>
            <a:endParaRPr lang="en-US" sz="1350" dirty="0"/>
          </a:p>
        </p:txBody>
      </p:sp>
      <p:sp>
        <p:nvSpPr>
          <p:cNvPr id="12" name="Shape 8"/>
          <p:cNvSpPr/>
          <p:nvPr/>
        </p:nvSpPr>
        <p:spPr>
          <a:xfrm>
            <a:off x="5332452" y="3419356"/>
            <a:ext cx="8647748" cy="11430"/>
          </a:xfrm>
          <a:prstGeom prst="roundRect">
            <a:avLst>
              <a:gd name="adj" fmla="val 637250"/>
            </a:avLst>
          </a:prstGeom>
          <a:solidFill>
            <a:srgbClr val="BCDBD4"/>
          </a:solidFill>
          <a:ln/>
        </p:spPr>
      </p:sp>
      <p:pic>
        <p:nvPicPr>
          <p:cNvPr id="13" name="Image 2" descr="preencoded.png">    </p:cNvPr>
          <p:cNvPicPr>
            <a:picLocks noChangeAspect="1"/>
          </p:cNvPicPr>
          <p:nvPr/>
        </p:nvPicPr>
        <p:blipFill>
          <a:blip r:embed="rId3"/>
          <a:stretch>
            <a:fillRect/>
          </a:stretch>
        </p:blipFill>
        <p:spPr>
          <a:xfrm>
            <a:off x="1968579" y="3450550"/>
            <a:ext cx="3984665" cy="999173"/>
          </a:xfrm>
          <a:prstGeom prst="rect">
            <a:avLst/>
          </a:prstGeom>
        </p:spPr>
      </p:pic>
      <p:sp>
        <p:nvSpPr>
          <p:cNvPr id="14" name="Text 9"/>
          <p:cNvSpPr/>
          <p:nvPr/>
        </p:nvSpPr>
        <p:spPr>
          <a:xfrm>
            <a:off x="3870008" y="3776663"/>
            <a:ext cx="181808" cy="346829"/>
          </a:xfrm>
          <a:prstGeom prst="rect">
            <a:avLst/>
          </a:prstGeom>
          <a:noFill/>
          <a:ln/>
        </p:spPr>
        <p:txBody>
          <a:bodyPr wrap="none" lIns="0" tIns="0" rIns="0" bIns="0" rtlCol="0" anchor="t"/>
          <a:lstStyle/>
          <a:p>
            <a:pPr algn="ctr" indent="0" marL="0">
              <a:lnSpc>
                <a:spcPts val="2700"/>
              </a:lnSpc>
              <a:buNone/>
            </a:pPr>
            <a:r>
              <a:rPr lang="en-US" sz="1700" b="1" dirty="0">
                <a:solidFill>
                  <a:srgbClr val="333F70"/>
                </a:solidFill>
                <a:latin typeface="Unbounded Bold" pitchFamily="34" charset="0"/>
                <a:ea typeface="Unbounded Bold" pitchFamily="34" charset="-122"/>
                <a:cs typeface="Unbounded Bold" pitchFamily="34" charset="-120"/>
              </a:rPr>
              <a:t>3</a:t>
            </a:r>
            <a:endParaRPr lang="en-US" sz="1700" dirty="0"/>
          </a:p>
        </p:txBody>
      </p:sp>
      <p:sp>
        <p:nvSpPr>
          <p:cNvPr id="15" name="Text 10"/>
          <p:cNvSpPr/>
          <p:nvPr/>
        </p:nvSpPr>
        <p:spPr>
          <a:xfrm>
            <a:off x="6126599" y="3623905"/>
            <a:ext cx="4393287" cy="270986"/>
          </a:xfrm>
          <a:prstGeom prst="rect">
            <a:avLst/>
          </a:prstGeom>
          <a:noFill/>
          <a:ln/>
        </p:spPr>
        <p:txBody>
          <a:bodyPr wrap="none" lIns="0" tIns="0" rIns="0" bIns="0" rtlCol="0" anchor="t"/>
          <a:lstStyle/>
          <a:p>
            <a:pPr algn="l" indent="0" marL="0">
              <a:lnSpc>
                <a:spcPts val="2100"/>
              </a:lnSpc>
              <a:buNone/>
            </a:pPr>
            <a:r>
              <a:rPr lang="en-US" sz="1700" b="1" dirty="0">
                <a:solidFill>
                  <a:srgbClr val="333F70"/>
                </a:solidFill>
                <a:latin typeface="Unbounded Bold" pitchFamily="34" charset="0"/>
                <a:ea typeface="Unbounded Bold" pitchFamily="34" charset="-122"/>
                <a:cs typeface="Unbounded Bold" pitchFamily="34" charset="-120"/>
              </a:rPr>
              <a:t>Ticketing &amp; Payment Processing</a:t>
            </a:r>
            <a:endParaRPr lang="en-US" sz="1700" dirty="0"/>
          </a:p>
        </p:txBody>
      </p:sp>
      <p:sp>
        <p:nvSpPr>
          <p:cNvPr id="16" name="Text 11"/>
          <p:cNvSpPr/>
          <p:nvPr/>
        </p:nvSpPr>
        <p:spPr>
          <a:xfrm>
            <a:off x="6126599" y="3998833"/>
            <a:ext cx="4393287" cy="277535"/>
          </a:xfrm>
          <a:prstGeom prst="rect">
            <a:avLst/>
          </a:prstGeom>
          <a:noFill/>
          <a:ln/>
        </p:spPr>
        <p:txBody>
          <a:bodyPr wrap="none" lIns="0" tIns="0" rIns="0" bIns="0" rtlCol="0" anchor="t"/>
          <a:lstStyle/>
          <a:p>
            <a:pPr algn="l" indent="0" marL="0">
              <a:lnSpc>
                <a:spcPts val="2150"/>
              </a:lnSpc>
              <a:buNone/>
            </a:pPr>
            <a:r>
              <a:rPr lang="en-US" sz="1350" dirty="0">
                <a:solidFill>
                  <a:srgbClr val="333F70"/>
                </a:solidFill>
                <a:latin typeface="Open Sans" pitchFamily="34" charset="0"/>
                <a:ea typeface="Open Sans" pitchFamily="34" charset="-122"/>
                <a:cs typeface="Open Sans" pitchFamily="34" charset="-120"/>
              </a:rPr>
              <a:t>Flexible options and secure transactions</a:t>
            </a:r>
            <a:endParaRPr lang="en-US" sz="1350" dirty="0"/>
          </a:p>
        </p:txBody>
      </p:sp>
      <p:sp>
        <p:nvSpPr>
          <p:cNvPr id="17" name="Shape 12"/>
          <p:cNvSpPr/>
          <p:nvPr/>
        </p:nvSpPr>
        <p:spPr>
          <a:xfrm>
            <a:off x="5996583" y="4461867"/>
            <a:ext cx="7983617" cy="11430"/>
          </a:xfrm>
          <a:prstGeom prst="roundRect">
            <a:avLst>
              <a:gd name="adj" fmla="val 637250"/>
            </a:avLst>
          </a:prstGeom>
          <a:solidFill>
            <a:srgbClr val="BCDBD4"/>
          </a:solidFill>
          <a:ln/>
        </p:spPr>
      </p:sp>
      <p:pic>
        <p:nvPicPr>
          <p:cNvPr id="18" name="Image 3" descr="preencoded.png">    </p:cNvPr>
          <p:cNvPicPr>
            <a:picLocks noChangeAspect="1"/>
          </p:cNvPicPr>
          <p:nvPr/>
        </p:nvPicPr>
        <p:blipFill>
          <a:blip r:embed="rId4"/>
          <a:stretch>
            <a:fillRect/>
          </a:stretch>
        </p:blipFill>
        <p:spPr>
          <a:xfrm>
            <a:off x="1304449" y="4493062"/>
            <a:ext cx="5312926" cy="999173"/>
          </a:xfrm>
          <a:prstGeom prst="rect">
            <a:avLst/>
          </a:prstGeom>
        </p:spPr>
      </p:pic>
      <p:sp>
        <p:nvSpPr>
          <p:cNvPr id="19" name="Text 13"/>
          <p:cNvSpPr/>
          <p:nvPr/>
        </p:nvSpPr>
        <p:spPr>
          <a:xfrm>
            <a:off x="3867507" y="4819174"/>
            <a:ext cx="186690" cy="346829"/>
          </a:xfrm>
          <a:prstGeom prst="rect">
            <a:avLst/>
          </a:prstGeom>
          <a:noFill/>
          <a:ln/>
        </p:spPr>
        <p:txBody>
          <a:bodyPr wrap="none" lIns="0" tIns="0" rIns="0" bIns="0" rtlCol="0" anchor="t"/>
          <a:lstStyle/>
          <a:p>
            <a:pPr algn="ctr" indent="0" marL="0">
              <a:lnSpc>
                <a:spcPts val="2700"/>
              </a:lnSpc>
              <a:buNone/>
            </a:pPr>
            <a:r>
              <a:rPr lang="en-US" sz="1700" b="1" dirty="0">
                <a:solidFill>
                  <a:srgbClr val="333F70"/>
                </a:solidFill>
                <a:latin typeface="Unbounded Bold" pitchFamily="34" charset="0"/>
                <a:ea typeface="Unbounded Bold" pitchFamily="34" charset="-122"/>
                <a:cs typeface="Unbounded Bold" pitchFamily="34" charset="-120"/>
              </a:rPr>
              <a:t>4</a:t>
            </a:r>
            <a:endParaRPr lang="en-US" sz="1700" dirty="0"/>
          </a:p>
        </p:txBody>
      </p:sp>
      <p:sp>
        <p:nvSpPr>
          <p:cNvPr id="20" name="Text 14"/>
          <p:cNvSpPr/>
          <p:nvPr/>
        </p:nvSpPr>
        <p:spPr>
          <a:xfrm>
            <a:off x="6790730" y="4666417"/>
            <a:ext cx="2790468" cy="270986"/>
          </a:xfrm>
          <a:prstGeom prst="rect">
            <a:avLst/>
          </a:prstGeom>
          <a:noFill/>
          <a:ln/>
        </p:spPr>
        <p:txBody>
          <a:bodyPr wrap="none" lIns="0" tIns="0" rIns="0" bIns="0" rtlCol="0" anchor="t"/>
          <a:lstStyle/>
          <a:p>
            <a:pPr algn="l" indent="0" marL="0">
              <a:lnSpc>
                <a:spcPts val="2100"/>
              </a:lnSpc>
              <a:buNone/>
            </a:pPr>
            <a:r>
              <a:rPr lang="en-US" sz="1700" b="1" dirty="0">
                <a:solidFill>
                  <a:srgbClr val="333F70"/>
                </a:solidFill>
                <a:latin typeface="Unbounded Bold" pitchFamily="34" charset="0"/>
                <a:ea typeface="Unbounded Bold" pitchFamily="34" charset="-122"/>
                <a:cs typeface="Unbounded Bold" pitchFamily="34" charset="-120"/>
              </a:rPr>
              <a:t>Venue Management </a:t>
            </a:r>
            <a:endParaRPr lang="en-US" sz="1700" dirty="0"/>
          </a:p>
        </p:txBody>
      </p:sp>
      <p:sp>
        <p:nvSpPr>
          <p:cNvPr id="21" name="Text 15"/>
          <p:cNvSpPr/>
          <p:nvPr/>
        </p:nvSpPr>
        <p:spPr>
          <a:xfrm>
            <a:off x="6790730" y="5041344"/>
            <a:ext cx="2923223" cy="277535"/>
          </a:xfrm>
          <a:prstGeom prst="rect">
            <a:avLst/>
          </a:prstGeom>
          <a:noFill/>
          <a:ln/>
        </p:spPr>
        <p:txBody>
          <a:bodyPr wrap="none" lIns="0" tIns="0" rIns="0" bIns="0" rtlCol="0" anchor="t"/>
          <a:lstStyle/>
          <a:p>
            <a:pPr algn="l" indent="0" marL="0">
              <a:lnSpc>
                <a:spcPts val="2150"/>
              </a:lnSpc>
              <a:buNone/>
            </a:pPr>
            <a:r>
              <a:rPr lang="en-US" sz="1350" dirty="0">
                <a:solidFill>
                  <a:srgbClr val="333F70"/>
                </a:solidFill>
                <a:latin typeface="Open Sans" pitchFamily="34" charset="0"/>
                <a:ea typeface="Open Sans" pitchFamily="34" charset="-122"/>
                <a:cs typeface="Open Sans" pitchFamily="34" charset="-120"/>
              </a:rPr>
              <a:t>Simplified booking and coordination</a:t>
            </a:r>
            <a:endParaRPr lang="en-US" sz="1350" dirty="0"/>
          </a:p>
        </p:txBody>
      </p:sp>
      <p:sp>
        <p:nvSpPr>
          <p:cNvPr id="22" name="Shape 16"/>
          <p:cNvSpPr/>
          <p:nvPr/>
        </p:nvSpPr>
        <p:spPr>
          <a:xfrm>
            <a:off x="6660713" y="5504378"/>
            <a:ext cx="7319486" cy="11430"/>
          </a:xfrm>
          <a:prstGeom prst="roundRect">
            <a:avLst>
              <a:gd name="adj" fmla="val 637250"/>
            </a:avLst>
          </a:prstGeom>
          <a:solidFill>
            <a:srgbClr val="BCDBD4"/>
          </a:solidFill>
          <a:ln/>
        </p:spPr>
      </p:sp>
      <p:pic>
        <p:nvPicPr>
          <p:cNvPr id="23" name="Image 4" descr="preencoded.png">    </p:cNvPr>
          <p:cNvPicPr>
            <a:picLocks noChangeAspect="1"/>
          </p:cNvPicPr>
          <p:nvPr/>
        </p:nvPicPr>
        <p:blipFill>
          <a:blip r:embed="rId5"/>
          <a:stretch>
            <a:fillRect/>
          </a:stretch>
        </p:blipFill>
        <p:spPr>
          <a:xfrm>
            <a:off x="640318" y="5535573"/>
            <a:ext cx="6641187" cy="999173"/>
          </a:xfrm>
          <a:prstGeom prst="rect">
            <a:avLst/>
          </a:prstGeom>
        </p:spPr>
      </p:pic>
      <p:sp>
        <p:nvSpPr>
          <p:cNvPr id="24" name="Text 17"/>
          <p:cNvSpPr/>
          <p:nvPr/>
        </p:nvSpPr>
        <p:spPr>
          <a:xfrm>
            <a:off x="3873341" y="5861685"/>
            <a:ext cx="174903" cy="346829"/>
          </a:xfrm>
          <a:prstGeom prst="rect">
            <a:avLst/>
          </a:prstGeom>
          <a:noFill/>
          <a:ln/>
        </p:spPr>
        <p:txBody>
          <a:bodyPr wrap="none" lIns="0" tIns="0" rIns="0" bIns="0" rtlCol="0" anchor="t"/>
          <a:lstStyle/>
          <a:p>
            <a:pPr algn="ctr" indent="0" marL="0">
              <a:lnSpc>
                <a:spcPts val="2700"/>
              </a:lnSpc>
              <a:buNone/>
            </a:pPr>
            <a:r>
              <a:rPr lang="en-US" sz="1700" b="1" dirty="0">
                <a:solidFill>
                  <a:srgbClr val="333F70"/>
                </a:solidFill>
                <a:latin typeface="Unbounded Bold" pitchFamily="34" charset="0"/>
                <a:ea typeface="Unbounded Bold" pitchFamily="34" charset="-122"/>
                <a:cs typeface="Unbounded Bold" pitchFamily="34" charset="-120"/>
              </a:rPr>
              <a:t>5</a:t>
            </a:r>
            <a:endParaRPr lang="en-US" sz="1700" dirty="0"/>
          </a:p>
        </p:txBody>
      </p:sp>
      <p:sp>
        <p:nvSpPr>
          <p:cNvPr id="25" name="Text 18"/>
          <p:cNvSpPr/>
          <p:nvPr/>
        </p:nvSpPr>
        <p:spPr>
          <a:xfrm>
            <a:off x="7454860" y="5708928"/>
            <a:ext cx="2963585" cy="270986"/>
          </a:xfrm>
          <a:prstGeom prst="rect">
            <a:avLst/>
          </a:prstGeom>
          <a:noFill/>
          <a:ln/>
        </p:spPr>
        <p:txBody>
          <a:bodyPr wrap="none" lIns="0" tIns="0" rIns="0" bIns="0" rtlCol="0" anchor="t"/>
          <a:lstStyle/>
          <a:p>
            <a:pPr algn="l" indent="0" marL="0">
              <a:lnSpc>
                <a:spcPts val="2100"/>
              </a:lnSpc>
              <a:buNone/>
            </a:pPr>
            <a:r>
              <a:rPr lang="en-US" sz="1700" b="1" dirty="0">
                <a:solidFill>
                  <a:srgbClr val="333F70"/>
                </a:solidFill>
                <a:latin typeface="Unbounded Bold" pitchFamily="34" charset="0"/>
                <a:ea typeface="Unbounded Bold" pitchFamily="34" charset="-122"/>
                <a:cs typeface="Unbounded Bold" pitchFamily="34" charset="-120"/>
              </a:rPr>
              <a:t>Analytics &amp; Feedback</a:t>
            </a:r>
            <a:endParaRPr lang="en-US" sz="1700" dirty="0"/>
          </a:p>
        </p:txBody>
      </p:sp>
      <p:sp>
        <p:nvSpPr>
          <p:cNvPr id="26" name="Text 19"/>
          <p:cNvSpPr/>
          <p:nvPr/>
        </p:nvSpPr>
        <p:spPr>
          <a:xfrm>
            <a:off x="7454860" y="6083856"/>
            <a:ext cx="3032165" cy="277535"/>
          </a:xfrm>
          <a:prstGeom prst="rect">
            <a:avLst/>
          </a:prstGeom>
          <a:noFill/>
          <a:ln/>
        </p:spPr>
        <p:txBody>
          <a:bodyPr wrap="none" lIns="0" tIns="0" rIns="0" bIns="0" rtlCol="0" anchor="t"/>
          <a:lstStyle/>
          <a:p>
            <a:pPr algn="l" indent="0" marL="0">
              <a:lnSpc>
                <a:spcPts val="2150"/>
              </a:lnSpc>
              <a:buNone/>
            </a:pPr>
            <a:r>
              <a:rPr lang="en-US" sz="1350" dirty="0">
                <a:solidFill>
                  <a:srgbClr val="333F70"/>
                </a:solidFill>
                <a:latin typeface="Open Sans" pitchFamily="34" charset="0"/>
                <a:ea typeface="Open Sans" pitchFamily="34" charset="-122"/>
                <a:cs typeface="Open Sans" pitchFamily="34" charset="-120"/>
              </a:rPr>
              <a:t>Data-driven insights for improvement</a:t>
            </a:r>
            <a:endParaRPr lang="en-US" sz="1350" dirty="0"/>
          </a:p>
        </p:txBody>
      </p:sp>
      <p:sp>
        <p:nvSpPr>
          <p:cNvPr id="27" name="Text 20"/>
          <p:cNvSpPr/>
          <p:nvPr/>
        </p:nvSpPr>
        <p:spPr>
          <a:xfrm>
            <a:off x="606862" y="6729770"/>
            <a:ext cx="13416677" cy="555069"/>
          </a:xfrm>
          <a:prstGeom prst="rect">
            <a:avLst/>
          </a:prstGeom>
          <a:noFill/>
          <a:ln/>
        </p:spPr>
        <p:txBody>
          <a:bodyPr wrap="square" lIns="0" tIns="0" rIns="0" bIns="0" rtlCol="0" anchor="t"/>
          <a:lstStyle/>
          <a:p>
            <a:pPr indent="0" marL="0">
              <a:lnSpc>
                <a:spcPts val="2150"/>
              </a:lnSpc>
              <a:buNone/>
            </a:pPr>
            <a:r>
              <a:rPr lang="en-US" sz="1350" dirty="0">
                <a:solidFill>
                  <a:srgbClr val="333F70"/>
                </a:solidFill>
                <a:latin typeface="Open Sans" pitchFamily="34" charset="0"/>
                <a:ea typeface="Open Sans" pitchFamily="34" charset="-122"/>
                <a:cs typeface="Open Sans" pitchFamily="34" charset="-120"/>
              </a:rPr>
              <a:t>At the heart of EventRaze lies a powerful set of features designed to address every aspect of event management. From intuitive event creation tools to sophisticated analytics, our platform provides a comprehensive solution for organizers and attendees alike.</a:t>
            </a:r>
            <a:endParaRPr lang="en-US" sz="1350" dirty="0"/>
          </a:p>
        </p:txBody>
      </p:sp>
      <p:sp>
        <p:nvSpPr>
          <p:cNvPr id="28" name="Text 21"/>
          <p:cNvSpPr/>
          <p:nvPr/>
        </p:nvSpPr>
        <p:spPr>
          <a:xfrm>
            <a:off x="606862" y="7479863"/>
            <a:ext cx="13416677" cy="277535"/>
          </a:xfrm>
          <a:prstGeom prst="rect">
            <a:avLst/>
          </a:prstGeom>
          <a:noFill/>
          <a:ln/>
        </p:spPr>
        <p:txBody>
          <a:bodyPr wrap="none" lIns="0" tIns="0" rIns="0" bIns="0" rtlCol="0" anchor="t"/>
          <a:lstStyle/>
          <a:p>
            <a:pPr indent="0" marL="0">
              <a:lnSpc>
                <a:spcPts val="2150"/>
              </a:lnSpc>
              <a:buNone/>
            </a:pP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037397"/>
            <a:ext cx="13042821" cy="1417558"/>
          </a:xfrm>
          <a:prstGeom prst="rect">
            <a:avLst/>
          </a:prstGeom>
          <a:noFill/>
          <a:ln/>
        </p:spPr>
        <p:txBody>
          <a:bodyPr wrap="square" lIns="0" tIns="0" rIns="0" bIns="0" rtlCol="0" anchor="t"/>
          <a:lstStyle/>
          <a:p>
            <a:pPr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Let's Explore the EventRaze prototype</a:t>
            </a:r>
            <a:endParaRPr lang="en-US" sz="4450" dirty="0"/>
          </a:p>
        </p:txBody>
      </p:sp>
      <p:pic>
        <p:nvPicPr>
          <p:cNvPr id="3" name="Image 0" descr="preencoded.png">
            <a:hlinkClick r:id="rId2" tooltip=""/>
          </p:cNvPr>
          <p:cNvPicPr>
            <a:picLocks noChangeAspect="1"/>
          </p:cNvPicPr>
          <p:nvPr/>
        </p:nvPicPr>
        <p:blipFill>
          <a:blip r:embed="rId1"/>
          <a:stretch>
            <a:fillRect/>
          </a:stretch>
        </p:blipFill>
        <p:spPr>
          <a:xfrm>
            <a:off x="793790" y="3908584"/>
            <a:ext cx="13042821" cy="228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12589" y="786170"/>
            <a:ext cx="12498943" cy="636151"/>
          </a:xfrm>
          <a:prstGeom prst="rect">
            <a:avLst/>
          </a:prstGeom>
          <a:noFill/>
          <a:ln/>
        </p:spPr>
        <p:txBody>
          <a:bodyPr wrap="none" lIns="0" tIns="0" rIns="0" bIns="0" rtlCol="0" anchor="t"/>
          <a:lstStyle/>
          <a:p>
            <a:pPr indent="0" marL="0">
              <a:lnSpc>
                <a:spcPts val="5000"/>
              </a:lnSpc>
              <a:buNone/>
            </a:pPr>
            <a:r>
              <a:rPr lang="en-US" sz="4000" b="1" dirty="0">
                <a:solidFill>
                  <a:srgbClr val="333F70"/>
                </a:solidFill>
                <a:latin typeface="Unbounded Bold" pitchFamily="34" charset="0"/>
                <a:ea typeface="Unbounded Bold" pitchFamily="34" charset="-122"/>
                <a:cs typeface="Unbounded Bold" pitchFamily="34" charset="-120"/>
              </a:rPr>
              <a:t>Technology Stack: Building for Success</a:t>
            </a:r>
            <a:endParaRPr lang="en-US" sz="4000" dirty="0"/>
          </a:p>
        </p:txBody>
      </p:sp>
      <p:sp>
        <p:nvSpPr>
          <p:cNvPr id="3" name="Shape 1"/>
          <p:cNvSpPr/>
          <p:nvPr/>
        </p:nvSpPr>
        <p:spPr>
          <a:xfrm>
            <a:off x="712589" y="1829514"/>
            <a:ext cx="13205222" cy="3527108"/>
          </a:xfrm>
          <a:prstGeom prst="roundRect">
            <a:avLst>
              <a:gd name="adj" fmla="val 2424"/>
            </a:avLst>
          </a:prstGeom>
          <a:noFill/>
          <a:ln w="7620">
            <a:solidFill>
              <a:srgbClr val="000000">
                <a:alpha val="8000"/>
              </a:srgbClr>
            </a:solidFill>
            <a:prstDash val="solid"/>
          </a:ln>
        </p:spPr>
      </p:sp>
      <p:sp>
        <p:nvSpPr>
          <p:cNvPr id="4" name="Shape 2"/>
          <p:cNvSpPr/>
          <p:nvPr/>
        </p:nvSpPr>
        <p:spPr>
          <a:xfrm>
            <a:off x="720209" y="1837134"/>
            <a:ext cx="13188553" cy="585311"/>
          </a:xfrm>
          <a:prstGeom prst="rect">
            <a:avLst/>
          </a:prstGeom>
          <a:solidFill>
            <a:srgbClr val="FFFFFF">
              <a:alpha val="4000"/>
            </a:srgbClr>
          </a:solidFill>
          <a:ln/>
        </p:spPr>
      </p:sp>
      <p:sp>
        <p:nvSpPr>
          <p:cNvPr id="5" name="Text 3"/>
          <p:cNvSpPr/>
          <p:nvPr/>
        </p:nvSpPr>
        <p:spPr>
          <a:xfrm>
            <a:off x="925354" y="1966913"/>
            <a:ext cx="3984665" cy="325755"/>
          </a:xfrm>
          <a:prstGeom prst="rect">
            <a:avLst/>
          </a:prstGeom>
          <a:noFill/>
          <a:ln/>
        </p:spPr>
        <p:txBody>
          <a:bodyPr wrap="none" lIns="0" tIns="0" rIns="0" bIns="0" rtlCol="0" anchor="t"/>
          <a:lstStyle/>
          <a:p>
            <a:pPr indent="0" marL="0">
              <a:lnSpc>
                <a:spcPts val="2550"/>
              </a:lnSpc>
              <a:buNone/>
            </a:pPr>
            <a:r>
              <a:rPr lang="en-US" sz="1600" dirty="0">
                <a:solidFill>
                  <a:srgbClr val="333F70"/>
                </a:solidFill>
                <a:latin typeface="Open Sans" pitchFamily="34" charset="0"/>
                <a:ea typeface="Open Sans" pitchFamily="34" charset="-122"/>
                <a:cs typeface="Open Sans" pitchFamily="34" charset="-120"/>
              </a:rPr>
              <a:t>Technology</a:t>
            </a:r>
            <a:endParaRPr lang="en-US" sz="1600" dirty="0"/>
          </a:p>
        </p:txBody>
      </p:sp>
      <p:sp>
        <p:nvSpPr>
          <p:cNvPr id="6" name="Text 4"/>
          <p:cNvSpPr/>
          <p:nvPr/>
        </p:nvSpPr>
        <p:spPr>
          <a:xfrm>
            <a:off x="5324832" y="1966913"/>
            <a:ext cx="3980855" cy="325755"/>
          </a:xfrm>
          <a:prstGeom prst="rect">
            <a:avLst/>
          </a:prstGeom>
          <a:noFill/>
          <a:ln/>
        </p:spPr>
        <p:txBody>
          <a:bodyPr wrap="none" lIns="0" tIns="0" rIns="0" bIns="0" rtlCol="0" anchor="t"/>
          <a:lstStyle/>
          <a:p>
            <a:pPr indent="0" marL="0">
              <a:lnSpc>
                <a:spcPts val="2550"/>
              </a:lnSpc>
              <a:buNone/>
            </a:pPr>
            <a:r>
              <a:rPr lang="en-US" sz="1600" dirty="0">
                <a:solidFill>
                  <a:srgbClr val="333F70"/>
                </a:solidFill>
                <a:latin typeface="Open Sans" pitchFamily="34" charset="0"/>
                <a:ea typeface="Open Sans" pitchFamily="34" charset="-122"/>
                <a:cs typeface="Open Sans" pitchFamily="34" charset="-120"/>
              </a:rPr>
              <a:t>Purpose</a:t>
            </a:r>
            <a:endParaRPr lang="en-US" sz="1600" dirty="0"/>
          </a:p>
        </p:txBody>
      </p:sp>
      <p:sp>
        <p:nvSpPr>
          <p:cNvPr id="7" name="Text 5"/>
          <p:cNvSpPr/>
          <p:nvPr/>
        </p:nvSpPr>
        <p:spPr>
          <a:xfrm>
            <a:off x="9720501" y="1966913"/>
            <a:ext cx="3984665" cy="325755"/>
          </a:xfrm>
          <a:prstGeom prst="rect">
            <a:avLst/>
          </a:prstGeom>
          <a:noFill/>
          <a:ln/>
        </p:spPr>
        <p:txBody>
          <a:bodyPr wrap="none" lIns="0" tIns="0" rIns="0" bIns="0" rtlCol="0" anchor="t"/>
          <a:lstStyle/>
          <a:p>
            <a:pPr indent="0" marL="0">
              <a:lnSpc>
                <a:spcPts val="2550"/>
              </a:lnSpc>
              <a:buNone/>
            </a:pPr>
            <a:r>
              <a:rPr lang="en-US" sz="1600" dirty="0">
                <a:solidFill>
                  <a:srgbClr val="333F70"/>
                </a:solidFill>
                <a:latin typeface="Open Sans" pitchFamily="34" charset="0"/>
                <a:ea typeface="Open Sans" pitchFamily="34" charset="-122"/>
                <a:cs typeface="Open Sans" pitchFamily="34" charset="-120"/>
              </a:rPr>
              <a:t>Advantage</a:t>
            </a:r>
            <a:endParaRPr lang="en-US" sz="1600" dirty="0"/>
          </a:p>
        </p:txBody>
      </p:sp>
      <p:sp>
        <p:nvSpPr>
          <p:cNvPr id="8" name="Shape 6"/>
          <p:cNvSpPr/>
          <p:nvPr/>
        </p:nvSpPr>
        <p:spPr>
          <a:xfrm>
            <a:off x="720209" y="2422446"/>
            <a:ext cx="13188553" cy="585311"/>
          </a:xfrm>
          <a:prstGeom prst="rect">
            <a:avLst/>
          </a:prstGeom>
          <a:solidFill>
            <a:srgbClr val="000000">
              <a:alpha val="4000"/>
            </a:srgbClr>
          </a:solidFill>
          <a:ln/>
        </p:spPr>
      </p:sp>
      <p:sp>
        <p:nvSpPr>
          <p:cNvPr id="9" name="Text 7"/>
          <p:cNvSpPr/>
          <p:nvPr/>
        </p:nvSpPr>
        <p:spPr>
          <a:xfrm>
            <a:off x="925354" y="2552224"/>
            <a:ext cx="3984665" cy="325755"/>
          </a:xfrm>
          <a:prstGeom prst="rect">
            <a:avLst/>
          </a:prstGeom>
          <a:noFill/>
          <a:ln/>
        </p:spPr>
        <p:txBody>
          <a:bodyPr wrap="none" lIns="0" tIns="0" rIns="0" bIns="0" rtlCol="0" anchor="t"/>
          <a:lstStyle/>
          <a:p>
            <a:pPr indent="0" marL="0">
              <a:lnSpc>
                <a:spcPts val="2550"/>
              </a:lnSpc>
              <a:buNone/>
            </a:pPr>
            <a:r>
              <a:rPr lang="en-US" sz="1600" dirty="0">
                <a:solidFill>
                  <a:srgbClr val="333F70"/>
                </a:solidFill>
                <a:latin typeface="Open Sans" pitchFamily="34" charset="0"/>
                <a:ea typeface="Open Sans" pitchFamily="34" charset="-122"/>
                <a:cs typeface="Open Sans" pitchFamily="34" charset="-120"/>
              </a:rPr>
              <a:t>PHP</a:t>
            </a:r>
            <a:endParaRPr lang="en-US" sz="1600" dirty="0"/>
          </a:p>
        </p:txBody>
      </p:sp>
      <p:sp>
        <p:nvSpPr>
          <p:cNvPr id="10" name="Text 8"/>
          <p:cNvSpPr/>
          <p:nvPr/>
        </p:nvSpPr>
        <p:spPr>
          <a:xfrm>
            <a:off x="5324832" y="2552224"/>
            <a:ext cx="3980855" cy="325755"/>
          </a:xfrm>
          <a:prstGeom prst="rect">
            <a:avLst/>
          </a:prstGeom>
          <a:noFill/>
          <a:ln/>
        </p:spPr>
        <p:txBody>
          <a:bodyPr wrap="none" lIns="0" tIns="0" rIns="0" bIns="0" rtlCol="0" anchor="t"/>
          <a:lstStyle/>
          <a:p>
            <a:pPr indent="0" marL="0">
              <a:lnSpc>
                <a:spcPts val="2550"/>
              </a:lnSpc>
              <a:buNone/>
            </a:pPr>
            <a:r>
              <a:rPr lang="en-US" sz="1600" dirty="0">
                <a:solidFill>
                  <a:srgbClr val="333F70"/>
                </a:solidFill>
                <a:latin typeface="Open Sans" pitchFamily="34" charset="0"/>
                <a:ea typeface="Open Sans" pitchFamily="34" charset="-122"/>
                <a:cs typeface="Open Sans" pitchFamily="34" charset="-120"/>
              </a:rPr>
              <a:t>Server-side Logic</a:t>
            </a:r>
            <a:endParaRPr lang="en-US" sz="1600" dirty="0"/>
          </a:p>
        </p:txBody>
      </p:sp>
      <p:sp>
        <p:nvSpPr>
          <p:cNvPr id="11" name="Text 9"/>
          <p:cNvSpPr/>
          <p:nvPr/>
        </p:nvSpPr>
        <p:spPr>
          <a:xfrm>
            <a:off x="9720501" y="2552224"/>
            <a:ext cx="3984665" cy="325755"/>
          </a:xfrm>
          <a:prstGeom prst="rect">
            <a:avLst/>
          </a:prstGeom>
          <a:noFill/>
          <a:ln/>
        </p:spPr>
        <p:txBody>
          <a:bodyPr wrap="none" lIns="0" tIns="0" rIns="0" bIns="0" rtlCol="0" anchor="t"/>
          <a:lstStyle/>
          <a:p>
            <a:pPr indent="0" marL="0">
              <a:lnSpc>
                <a:spcPts val="2550"/>
              </a:lnSpc>
              <a:buNone/>
            </a:pPr>
            <a:r>
              <a:rPr lang="en-US" sz="1600" dirty="0">
                <a:solidFill>
                  <a:srgbClr val="333F70"/>
                </a:solidFill>
                <a:latin typeface="Open Sans" pitchFamily="34" charset="0"/>
                <a:ea typeface="Open Sans" pitchFamily="34" charset="-122"/>
                <a:cs typeface="Open Sans" pitchFamily="34" charset="-120"/>
              </a:rPr>
              <a:t>Robust and Widely Supported</a:t>
            </a:r>
            <a:endParaRPr lang="en-US" sz="1600" dirty="0"/>
          </a:p>
        </p:txBody>
      </p:sp>
      <p:sp>
        <p:nvSpPr>
          <p:cNvPr id="12" name="Shape 10"/>
          <p:cNvSpPr/>
          <p:nvPr/>
        </p:nvSpPr>
        <p:spPr>
          <a:xfrm>
            <a:off x="720209" y="3007757"/>
            <a:ext cx="13188553" cy="585311"/>
          </a:xfrm>
          <a:prstGeom prst="rect">
            <a:avLst/>
          </a:prstGeom>
          <a:solidFill>
            <a:srgbClr val="FFFFFF">
              <a:alpha val="4000"/>
            </a:srgbClr>
          </a:solidFill>
          <a:ln/>
        </p:spPr>
      </p:sp>
      <p:sp>
        <p:nvSpPr>
          <p:cNvPr id="13" name="Text 11"/>
          <p:cNvSpPr/>
          <p:nvPr/>
        </p:nvSpPr>
        <p:spPr>
          <a:xfrm>
            <a:off x="925354" y="3137535"/>
            <a:ext cx="3984665" cy="325755"/>
          </a:xfrm>
          <a:prstGeom prst="rect">
            <a:avLst/>
          </a:prstGeom>
          <a:noFill/>
          <a:ln/>
        </p:spPr>
        <p:txBody>
          <a:bodyPr wrap="none" lIns="0" tIns="0" rIns="0" bIns="0" rtlCol="0" anchor="t"/>
          <a:lstStyle/>
          <a:p>
            <a:pPr indent="0" marL="0">
              <a:lnSpc>
                <a:spcPts val="2550"/>
              </a:lnSpc>
              <a:buNone/>
            </a:pPr>
            <a:r>
              <a:rPr lang="en-US" sz="1600" dirty="0">
                <a:solidFill>
                  <a:srgbClr val="333F70"/>
                </a:solidFill>
                <a:latin typeface="Open Sans" pitchFamily="34" charset="0"/>
                <a:ea typeface="Open Sans" pitchFamily="34" charset="-122"/>
                <a:cs typeface="Open Sans" pitchFamily="34" charset="-120"/>
              </a:rPr>
              <a:t>MySQL</a:t>
            </a:r>
            <a:endParaRPr lang="en-US" sz="1600" dirty="0"/>
          </a:p>
        </p:txBody>
      </p:sp>
      <p:sp>
        <p:nvSpPr>
          <p:cNvPr id="14" name="Text 12"/>
          <p:cNvSpPr/>
          <p:nvPr/>
        </p:nvSpPr>
        <p:spPr>
          <a:xfrm>
            <a:off x="5324832" y="3137535"/>
            <a:ext cx="3980855" cy="325755"/>
          </a:xfrm>
          <a:prstGeom prst="rect">
            <a:avLst/>
          </a:prstGeom>
          <a:noFill/>
          <a:ln/>
        </p:spPr>
        <p:txBody>
          <a:bodyPr wrap="none" lIns="0" tIns="0" rIns="0" bIns="0" rtlCol="0" anchor="t"/>
          <a:lstStyle/>
          <a:p>
            <a:pPr indent="0" marL="0">
              <a:lnSpc>
                <a:spcPts val="2550"/>
              </a:lnSpc>
              <a:buNone/>
            </a:pPr>
            <a:r>
              <a:rPr lang="en-US" sz="1600" dirty="0">
                <a:solidFill>
                  <a:srgbClr val="333F70"/>
                </a:solidFill>
                <a:latin typeface="Open Sans" pitchFamily="34" charset="0"/>
                <a:ea typeface="Open Sans" pitchFamily="34" charset="-122"/>
                <a:cs typeface="Open Sans" pitchFamily="34" charset="-120"/>
              </a:rPr>
              <a:t>Data Storage</a:t>
            </a:r>
            <a:endParaRPr lang="en-US" sz="1600" dirty="0"/>
          </a:p>
        </p:txBody>
      </p:sp>
      <p:sp>
        <p:nvSpPr>
          <p:cNvPr id="15" name="Text 13"/>
          <p:cNvSpPr/>
          <p:nvPr/>
        </p:nvSpPr>
        <p:spPr>
          <a:xfrm>
            <a:off x="9720501" y="3137535"/>
            <a:ext cx="3984665" cy="325755"/>
          </a:xfrm>
          <a:prstGeom prst="rect">
            <a:avLst/>
          </a:prstGeom>
          <a:noFill/>
          <a:ln/>
        </p:spPr>
        <p:txBody>
          <a:bodyPr wrap="none" lIns="0" tIns="0" rIns="0" bIns="0" rtlCol="0" anchor="t"/>
          <a:lstStyle/>
          <a:p>
            <a:pPr indent="0" marL="0">
              <a:lnSpc>
                <a:spcPts val="2550"/>
              </a:lnSpc>
              <a:buNone/>
            </a:pPr>
            <a:r>
              <a:rPr lang="en-US" sz="1600" dirty="0">
                <a:solidFill>
                  <a:srgbClr val="333F70"/>
                </a:solidFill>
                <a:latin typeface="Open Sans" pitchFamily="34" charset="0"/>
                <a:ea typeface="Open Sans" pitchFamily="34" charset="-122"/>
                <a:cs typeface="Open Sans" pitchFamily="34" charset="-120"/>
              </a:rPr>
              <a:t>Reliable and Scalable</a:t>
            </a:r>
            <a:endParaRPr lang="en-US" sz="1600" dirty="0"/>
          </a:p>
        </p:txBody>
      </p:sp>
      <p:sp>
        <p:nvSpPr>
          <p:cNvPr id="16" name="Shape 14"/>
          <p:cNvSpPr/>
          <p:nvPr/>
        </p:nvSpPr>
        <p:spPr>
          <a:xfrm>
            <a:off x="720209" y="3593068"/>
            <a:ext cx="13188553" cy="585311"/>
          </a:xfrm>
          <a:prstGeom prst="rect">
            <a:avLst/>
          </a:prstGeom>
          <a:solidFill>
            <a:srgbClr val="000000">
              <a:alpha val="4000"/>
            </a:srgbClr>
          </a:solidFill>
          <a:ln/>
        </p:spPr>
      </p:sp>
      <p:sp>
        <p:nvSpPr>
          <p:cNvPr id="17" name="Text 15"/>
          <p:cNvSpPr/>
          <p:nvPr/>
        </p:nvSpPr>
        <p:spPr>
          <a:xfrm>
            <a:off x="925354" y="3722846"/>
            <a:ext cx="3984665" cy="325755"/>
          </a:xfrm>
          <a:prstGeom prst="rect">
            <a:avLst/>
          </a:prstGeom>
          <a:noFill/>
          <a:ln/>
        </p:spPr>
        <p:txBody>
          <a:bodyPr wrap="none" lIns="0" tIns="0" rIns="0" bIns="0" rtlCol="0" anchor="t"/>
          <a:lstStyle/>
          <a:p>
            <a:pPr indent="0" marL="0">
              <a:lnSpc>
                <a:spcPts val="2550"/>
              </a:lnSpc>
              <a:buNone/>
            </a:pPr>
            <a:r>
              <a:rPr lang="en-US" sz="1600" dirty="0">
                <a:solidFill>
                  <a:srgbClr val="333F70"/>
                </a:solidFill>
                <a:latin typeface="Open Sans" pitchFamily="34" charset="0"/>
                <a:ea typeface="Open Sans" pitchFamily="34" charset="-122"/>
                <a:cs typeface="Open Sans" pitchFamily="34" charset="-120"/>
              </a:rPr>
              <a:t>HTML/CSS/JavaScript</a:t>
            </a:r>
            <a:endParaRPr lang="en-US" sz="1600" dirty="0"/>
          </a:p>
        </p:txBody>
      </p:sp>
      <p:sp>
        <p:nvSpPr>
          <p:cNvPr id="18" name="Text 16"/>
          <p:cNvSpPr/>
          <p:nvPr/>
        </p:nvSpPr>
        <p:spPr>
          <a:xfrm>
            <a:off x="5324832" y="3722846"/>
            <a:ext cx="3980855" cy="325755"/>
          </a:xfrm>
          <a:prstGeom prst="rect">
            <a:avLst/>
          </a:prstGeom>
          <a:noFill/>
          <a:ln/>
        </p:spPr>
        <p:txBody>
          <a:bodyPr wrap="none" lIns="0" tIns="0" rIns="0" bIns="0" rtlCol="0" anchor="t"/>
          <a:lstStyle/>
          <a:p>
            <a:pPr indent="0" marL="0">
              <a:lnSpc>
                <a:spcPts val="2550"/>
              </a:lnSpc>
              <a:buNone/>
            </a:pPr>
            <a:r>
              <a:rPr lang="en-US" sz="1600" dirty="0">
                <a:solidFill>
                  <a:srgbClr val="333F70"/>
                </a:solidFill>
                <a:latin typeface="Open Sans" pitchFamily="34" charset="0"/>
                <a:ea typeface="Open Sans" pitchFamily="34" charset="-122"/>
                <a:cs typeface="Open Sans" pitchFamily="34" charset="-120"/>
              </a:rPr>
              <a:t>Frontend Development</a:t>
            </a:r>
            <a:endParaRPr lang="en-US" sz="1600" dirty="0"/>
          </a:p>
        </p:txBody>
      </p:sp>
      <p:sp>
        <p:nvSpPr>
          <p:cNvPr id="19" name="Text 17"/>
          <p:cNvSpPr/>
          <p:nvPr/>
        </p:nvSpPr>
        <p:spPr>
          <a:xfrm>
            <a:off x="9720501" y="3722846"/>
            <a:ext cx="3984665" cy="325755"/>
          </a:xfrm>
          <a:prstGeom prst="rect">
            <a:avLst/>
          </a:prstGeom>
          <a:noFill/>
          <a:ln/>
        </p:spPr>
        <p:txBody>
          <a:bodyPr wrap="none" lIns="0" tIns="0" rIns="0" bIns="0" rtlCol="0" anchor="t"/>
          <a:lstStyle/>
          <a:p>
            <a:pPr indent="0" marL="0">
              <a:lnSpc>
                <a:spcPts val="2550"/>
              </a:lnSpc>
              <a:buNone/>
            </a:pPr>
            <a:r>
              <a:rPr lang="en-US" sz="1600" dirty="0">
                <a:solidFill>
                  <a:srgbClr val="333F70"/>
                </a:solidFill>
                <a:latin typeface="Open Sans" pitchFamily="34" charset="0"/>
                <a:ea typeface="Open Sans" pitchFamily="34" charset="-122"/>
                <a:cs typeface="Open Sans" pitchFamily="34" charset="-120"/>
              </a:rPr>
              <a:t>Dynamic and Responsive UI</a:t>
            </a:r>
            <a:endParaRPr lang="en-US" sz="1600" dirty="0"/>
          </a:p>
        </p:txBody>
      </p:sp>
      <p:sp>
        <p:nvSpPr>
          <p:cNvPr id="20" name="Shape 18"/>
          <p:cNvSpPr/>
          <p:nvPr/>
        </p:nvSpPr>
        <p:spPr>
          <a:xfrm>
            <a:off x="720209" y="4178379"/>
            <a:ext cx="13188553" cy="585311"/>
          </a:xfrm>
          <a:prstGeom prst="rect">
            <a:avLst/>
          </a:prstGeom>
          <a:solidFill>
            <a:srgbClr val="FFFFFF">
              <a:alpha val="4000"/>
            </a:srgbClr>
          </a:solidFill>
          <a:ln/>
        </p:spPr>
      </p:sp>
      <p:sp>
        <p:nvSpPr>
          <p:cNvPr id="21" name="Text 19"/>
          <p:cNvSpPr/>
          <p:nvPr/>
        </p:nvSpPr>
        <p:spPr>
          <a:xfrm>
            <a:off x="925354" y="4308158"/>
            <a:ext cx="3984665" cy="325755"/>
          </a:xfrm>
          <a:prstGeom prst="rect">
            <a:avLst/>
          </a:prstGeom>
          <a:noFill/>
          <a:ln/>
        </p:spPr>
        <p:txBody>
          <a:bodyPr wrap="none" lIns="0" tIns="0" rIns="0" bIns="0" rtlCol="0" anchor="t"/>
          <a:lstStyle/>
          <a:p>
            <a:pPr indent="0" marL="0">
              <a:lnSpc>
                <a:spcPts val="2550"/>
              </a:lnSpc>
              <a:buNone/>
            </a:pPr>
            <a:r>
              <a:rPr lang="en-US" sz="1600" dirty="0">
                <a:solidFill>
                  <a:srgbClr val="333F70"/>
                </a:solidFill>
                <a:latin typeface="Open Sans" pitchFamily="34" charset="0"/>
                <a:ea typeface="Open Sans" pitchFamily="34" charset="-122"/>
                <a:cs typeface="Open Sans" pitchFamily="34" charset="-120"/>
              </a:rPr>
              <a:t>jQuery &amp; AJAX</a:t>
            </a:r>
            <a:endParaRPr lang="en-US" sz="1600" dirty="0"/>
          </a:p>
        </p:txBody>
      </p:sp>
      <p:sp>
        <p:nvSpPr>
          <p:cNvPr id="22" name="Text 20"/>
          <p:cNvSpPr/>
          <p:nvPr/>
        </p:nvSpPr>
        <p:spPr>
          <a:xfrm>
            <a:off x="5324832" y="4308158"/>
            <a:ext cx="3980855" cy="325755"/>
          </a:xfrm>
          <a:prstGeom prst="rect">
            <a:avLst/>
          </a:prstGeom>
          <a:noFill/>
          <a:ln/>
        </p:spPr>
        <p:txBody>
          <a:bodyPr wrap="none" lIns="0" tIns="0" rIns="0" bIns="0" rtlCol="0" anchor="t"/>
          <a:lstStyle/>
          <a:p>
            <a:pPr indent="0" marL="0">
              <a:lnSpc>
                <a:spcPts val="2550"/>
              </a:lnSpc>
              <a:buNone/>
            </a:pPr>
            <a:r>
              <a:rPr lang="en-US" sz="1600" dirty="0">
                <a:solidFill>
                  <a:srgbClr val="333F70"/>
                </a:solidFill>
                <a:latin typeface="Open Sans" pitchFamily="34" charset="0"/>
                <a:ea typeface="Open Sans" pitchFamily="34" charset="-122"/>
                <a:cs typeface="Open Sans" pitchFamily="34" charset="-120"/>
              </a:rPr>
              <a:t>Enhanced Interactivity</a:t>
            </a:r>
            <a:endParaRPr lang="en-US" sz="1600" dirty="0"/>
          </a:p>
        </p:txBody>
      </p:sp>
      <p:sp>
        <p:nvSpPr>
          <p:cNvPr id="23" name="Text 21"/>
          <p:cNvSpPr/>
          <p:nvPr/>
        </p:nvSpPr>
        <p:spPr>
          <a:xfrm>
            <a:off x="9720501" y="4308158"/>
            <a:ext cx="3984665" cy="325755"/>
          </a:xfrm>
          <a:prstGeom prst="rect">
            <a:avLst/>
          </a:prstGeom>
          <a:noFill/>
          <a:ln/>
        </p:spPr>
        <p:txBody>
          <a:bodyPr wrap="none" lIns="0" tIns="0" rIns="0" bIns="0" rtlCol="0" anchor="t"/>
          <a:lstStyle/>
          <a:p>
            <a:pPr indent="0" marL="0">
              <a:lnSpc>
                <a:spcPts val="2550"/>
              </a:lnSpc>
              <a:buNone/>
            </a:pPr>
            <a:r>
              <a:rPr lang="en-US" sz="1600" dirty="0">
                <a:solidFill>
                  <a:srgbClr val="333F70"/>
                </a:solidFill>
                <a:latin typeface="Open Sans" pitchFamily="34" charset="0"/>
                <a:ea typeface="Open Sans" pitchFamily="34" charset="-122"/>
                <a:cs typeface="Open Sans" pitchFamily="34" charset="-120"/>
              </a:rPr>
              <a:t>Smooth User Experience</a:t>
            </a:r>
            <a:endParaRPr lang="en-US" sz="1600" dirty="0"/>
          </a:p>
        </p:txBody>
      </p:sp>
      <p:sp>
        <p:nvSpPr>
          <p:cNvPr id="24" name="Shape 22"/>
          <p:cNvSpPr/>
          <p:nvPr/>
        </p:nvSpPr>
        <p:spPr>
          <a:xfrm>
            <a:off x="720209" y="4763691"/>
            <a:ext cx="13188553" cy="585311"/>
          </a:xfrm>
          <a:prstGeom prst="rect">
            <a:avLst/>
          </a:prstGeom>
          <a:solidFill>
            <a:srgbClr val="000000">
              <a:alpha val="4000"/>
            </a:srgbClr>
          </a:solidFill>
          <a:ln/>
        </p:spPr>
      </p:sp>
      <p:sp>
        <p:nvSpPr>
          <p:cNvPr id="25" name="Text 23"/>
          <p:cNvSpPr/>
          <p:nvPr/>
        </p:nvSpPr>
        <p:spPr>
          <a:xfrm>
            <a:off x="925354" y="4893469"/>
            <a:ext cx="3984665" cy="325755"/>
          </a:xfrm>
          <a:prstGeom prst="rect">
            <a:avLst/>
          </a:prstGeom>
          <a:noFill/>
          <a:ln/>
        </p:spPr>
        <p:txBody>
          <a:bodyPr wrap="none" lIns="0" tIns="0" rIns="0" bIns="0" rtlCol="0" anchor="t"/>
          <a:lstStyle/>
          <a:p>
            <a:pPr indent="0" marL="0">
              <a:lnSpc>
                <a:spcPts val="2550"/>
              </a:lnSpc>
              <a:buNone/>
            </a:pPr>
            <a:r>
              <a:rPr lang="en-US" sz="1600" dirty="0">
                <a:solidFill>
                  <a:srgbClr val="333F70"/>
                </a:solidFill>
                <a:latin typeface="Open Sans" pitchFamily="34" charset="0"/>
                <a:ea typeface="Open Sans" pitchFamily="34" charset="-122"/>
                <a:cs typeface="Open Sans" pitchFamily="34" charset="-120"/>
              </a:rPr>
              <a:t>XAMPP/WAMP/MAMP</a:t>
            </a:r>
            <a:endParaRPr lang="en-US" sz="1600" dirty="0"/>
          </a:p>
        </p:txBody>
      </p:sp>
      <p:sp>
        <p:nvSpPr>
          <p:cNvPr id="26" name="Text 24"/>
          <p:cNvSpPr/>
          <p:nvPr/>
        </p:nvSpPr>
        <p:spPr>
          <a:xfrm>
            <a:off x="5324832" y="4893469"/>
            <a:ext cx="3980855" cy="325755"/>
          </a:xfrm>
          <a:prstGeom prst="rect">
            <a:avLst/>
          </a:prstGeom>
          <a:noFill/>
          <a:ln/>
        </p:spPr>
        <p:txBody>
          <a:bodyPr wrap="none" lIns="0" tIns="0" rIns="0" bIns="0" rtlCol="0" anchor="t"/>
          <a:lstStyle/>
          <a:p>
            <a:pPr indent="0" marL="0">
              <a:lnSpc>
                <a:spcPts val="2550"/>
              </a:lnSpc>
              <a:buNone/>
            </a:pPr>
            <a:r>
              <a:rPr lang="en-US" sz="1600" dirty="0">
                <a:solidFill>
                  <a:srgbClr val="333F70"/>
                </a:solidFill>
                <a:latin typeface="Open Sans" pitchFamily="34" charset="0"/>
                <a:ea typeface="Open Sans" pitchFamily="34" charset="-122"/>
                <a:cs typeface="Open Sans" pitchFamily="34" charset="-120"/>
              </a:rPr>
              <a:t>Development Environment</a:t>
            </a:r>
            <a:endParaRPr lang="en-US" sz="1600" dirty="0"/>
          </a:p>
        </p:txBody>
      </p:sp>
      <p:sp>
        <p:nvSpPr>
          <p:cNvPr id="27" name="Text 25"/>
          <p:cNvSpPr/>
          <p:nvPr/>
        </p:nvSpPr>
        <p:spPr>
          <a:xfrm>
            <a:off x="9720501" y="4893469"/>
            <a:ext cx="3984665" cy="325755"/>
          </a:xfrm>
          <a:prstGeom prst="rect">
            <a:avLst/>
          </a:prstGeom>
          <a:noFill/>
          <a:ln/>
        </p:spPr>
        <p:txBody>
          <a:bodyPr wrap="none" lIns="0" tIns="0" rIns="0" bIns="0" rtlCol="0" anchor="t"/>
          <a:lstStyle/>
          <a:p>
            <a:pPr indent="0" marL="0">
              <a:lnSpc>
                <a:spcPts val="2550"/>
              </a:lnSpc>
              <a:buNone/>
            </a:pPr>
            <a:r>
              <a:rPr lang="en-US" sz="1600" dirty="0">
                <a:solidFill>
                  <a:srgbClr val="333F70"/>
                </a:solidFill>
                <a:latin typeface="Open Sans" pitchFamily="34" charset="0"/>
                <a:ea typeface="Open Sans" pitchFamily="34" charset="-122"/>
                <a:cs typeface="Open Sans" pitchFamily="34" charset="-120"/>
              </a:rPr>
              <a:t>Easy Local Testing</a:t>
            </a:r>
            <a:endParaRPr lang="en-US" sz="1600" dirty="0"/>
          </a:p>
        </p:txBody>
      </p:sp>
      <p:sp>
        <p:nvSpPr>
          <p:cNvPr id="28" name="Text 26"/>
          <p:cNvSpPr/>
          <p:nvPr/>
        </p:nvSpPr>
        <p:spPr>
          <a:xfrm>
            <a:off x="712589" y="5585579"/>
            <a:ext cx="13205222" cy="977265"/>
          </a:xfrm>
          <a:prstGeom prst="rect">
            <a:avLst/>
          </a:prstGeom>
          <a:noFill/>
          <a:ln/>
        </p:spPr>
        <p:txBody>
          <a:bodyPr wrap="square" lIns="0" tIns="0" rIns="0" bIns="0" rtlCol="0" anchor="t"/>
          <a:lstStyle/>
          <a:p>
            <a:pPr indent="0" marL="0">
              <a:lnSpc>
                <a:spcPts val="2550"/>
              </a:lnSpc>
              <a:buNone/>
            </a:pPr>
            <a:r>
              <a:rPr lang="en-US" sz="1600" dirty="0">
                <a:solidFill>
                  <a:srgbClr val="333F70"/>
                </a:solidFill>
                <a:latin typeface="Open Sans" pitchFamily="34" charset="0"/>
                <a:ea typeface="Open Sans" pitchFamily="34" charset="-122"/>
                <a:cs typeface="Open Sans" pitchFamily="34" charset="-120"/>
              </a:rPr>
              <a:t>Our carefully selected technology stack ensures that EventRaze is built on a foundation of reliability, efficiency, and scalability. By leveraging the strengths of established technologies like PHP and MySQL, we create a robust backend capable of handling complex event management tasks.</a:t>
            </a:r>
            <a:endParaRPr lang="en-US" sz="1600" dirty="0"/>
          </a:p>
        </p:txBody>
      </p:sp>
      <p:sp>
        <p:nvSpPr>
          <p:cNvPr id="29" name="Text 27"/>
          <p:cNvSpPr/>
          <p:nvPr/>
        </p:nvSpPr>
        <p:spPr>
          <a:xfrm>
            <a:off x="712589" y="6791801"/>
            <a:ext cx="13205222" cy="651510"/>
          </a:xfrm>
          <a:prstGeom prst="rect">
            <a:avLst/>
          </a:prstGeom>
          <a:noFill/>
          <a:ln/>
        </p:spPr>
        <p:txBody>
          <a:bodyPr wrap="square" lIns="0" tIns="0" rIns="0" bIns="0" rtlCol="0" anchor="t"/>
          <a:lstStyle/>
          <a:p>
            <a:pPr indent="0" marL="0">
              <a:lnSpc>
                <a:spcPts val="2550"/>
              </a:lnSpc>
              <a:buNone/>
            </a:pPr>
            <a:r>
              <a:rPr lang="en-US" sz="1600" dirty="0">
                <a:solidFill>
                  <a:srgbClr val="333F70"/>
                </a:solidFill>
                <a:latin typeface="Open Sans" pitchFamily="34" charset="0"/>
                <a:ea typeface="Open Sans" pitchFamily="34" charset="-122"/>
                <a:cs typeface="Open Sans" pitchFamily="34" charset="-120"/>
              </a:rPr>
              <a:t>On the frontend, we employ a combination of HTML, CSS, JavaScript, and jQuery to deliver a responsive and intuitive user interface. This approach allows us to create dynamic, interactive features that enhance the user experience for both event organizers and attendees.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87705" y="816769"/>
            <a:ext cx="11465004" cy="614005"/>
          </a:xfrm>
          <a:prstGeom prst="rect">
            <a:avLst/>
          </a:prstGeom>
          <a:noFill/>
          <a:ln/>
        </p:spPr>
        <p:txBody>
          <a:bodyPr wrap="none" lIns="0" tIns="0" rIns="0" bIns="0" rtlCol="0" anchor="t"/>
          <a:lstStyle/>
          <a:p>
            <a:pPr indent="0" marL="0">
              <a:lnSpc>
                <a:spcPts val="4800"/>
              </a:lnSpc>
              <a:buNone/>
            </a:pPr>
            <a:r>
              <a:rPr lang="en-US" sz="3850" b="1" dirty="0">
                <a:solidFill>
                  <a:srgbClr val="333F70"/>
                </a:solidFill>
                <a:latin typeface="Unbounded Bold" pitchFamily="34" charset="0"/>
                <a:ea typeface="Unbounded Bold" pitchFamily="34" charset="-122"/>
                <a:cs typeface="Unbounded Bold" pitchFamily="34" charset="-120"/>
              </a:rPr>
              <a:t>Our Learning Journey and Next Steps</a:t>
            </a:r>
            <a:endParaRPr lang="en-US" sz="3850" dirty="0"/>
          </a:p>
        </p:txBody>
      </p:sp>
      <p:sp>
        <p:nvSpPr>
          <p:cNvPr id="3" name="Shape 1"/>
          <p:cNvSpPr/>
          <p:nvPr/>
        </p:nvSpPr>
        <p:spPr>
          <a:xfrm>
            <a:off x="687705" y="2118360"/>
            <a:ext cx="13254990" cy="22860"/>
          </a:xfrm>
          <a:prstGeom prst="roundRect">
            <a:avLst>
              <a:gd name="adj" fmla="val 361014"/>
            </a:avLst>
          </a:prstGeom>
          <a:solidFill>
            <a:srgbClr val="BCDBD4"/>
          </a:solidFill>
          <a:ln/>
        </p:spPr>
      </p:sp>
      <p:sp>
        <p:nvSpPr>
          <p:cNvPr id="4" name="Shape 2"/>
          <p:cNvSpPr/>
          <p:nvPr/>
        </p:nvSpPr>
        <p:spPr>
          <a:xfrm>
            <a:off x="2259330" y="2118300"/>
            <a:ext cx="22860" cy="687705"/>
          </a:xfrm>
          <a:prstGeom prst="roundRect">
            <a:avLst>
              <a:gd name="adj" fmla="val 361014"/>
            </a:avLst>
          </a:prstGeom>
          <a:solidFill>
            <a:srgbClr val="BCDBD4"/>
          </a:solidFill>
          <a:ln/>
        </p:spPr>
      </p:sp>
      <p:sp>
        <p:nvSpPr>
          <p:cNvPr id="5" name="Shape 3"/>
          <p:cNvSpPr/>
          <p:nvPr/>
        </p:nvSpPr>
        <p:spPr>
          <a:xfrm>
            <a:off x="2049780" y="1897320"/>
            <a:ext cx="442079" cy="442079"/>
          </a:xfrm>
          <a:prstGeom prst="roundRect">
            <a:avLst>
              <a:gd name="adj" fmla="val 18668"/>
            </a:avLst>
          </a:prstGeom>
          <a:solidFill>
            <a:srgbClr val="D6F5EE"/>
          </a:solidFill>
          <a:ln w="7620">
            <a:solidFill>
              <a:srgbClr val="BCDBD4"/>
            </a:solidFill>
            <a:prstDash val="solid"/>
          </a:ln>
        </p:spPr>
      </p:sp>
      <p:sp>
        <p:nvSpPr>
          <p:cNvPr id="6" name="Text 4"/>
          <p:cNvSpPr/>
          <p:nvPr/>
        </p:nvSpPr>
        <p:spPr>
          <a:xfrm>
            <a:off x="2194084" y="1970901"/>
            <a:ext cx="153353" cy="294799"/>
          </a:xfrm>
          <a:prstGeom prst="rect">
            <a:avLst/>
          </a:prstGeom>
          <a:noFill/>
          <a:ln/>
        </p:spPr>
        <p:txBody>
          <a:bodyPr wrap="none" lIns="0" tIns="0" rIns="0" bIns="0" rtlCol="0" anchor="t"/>
          <a:lstStyle/>
          <a:p>
            <a:pPr algn="ctr" indent="0" marL="0">
              <a:lnSpc>
                <a:spcPts val="2300"/>
              </a:lnSpc>
              <a:buNone/>
            </a:pPr>
            <a:r>
              <a:rPr lang="en-US" sz="2300" b="1" dirty="0">
                <a:solidFill>
                  <a:srgbClr val="333F70"/>
                </a:solidFill>
                <a:latin typeface="Unbounded Bold" pitchFamily="34" charset="0"/>
                <a:ea typeface="Unbounded Bold" pitchFamily="34" charset="-122"/>
                <a:cs typeface="Unbounded Bold" pitchFamily="34" charset="-120"/>
              </a:rPr>
              <a:t>1</a:t>
            </a:r>
            <a:endParaRPr lang="en-US" sz="2300" dirty="0"/>
          </a:p>
        </p:txBody>
      </p:sp>
      <p:sp>
        <p:nvSpPr>
          <p:cNvPr id="7" name="Text 5"/>
          <p:cNvSpPr/>
          <p:nvPr/>
        </p:nvSpPr>
        <p:spPr>
          <a:xfrm>
            <a:off x="884158" y="3002518"/>
            <a:ext cx="2773442" cy="613886"/>
          </a:xfrm>
          <a:prstGeom prst="rect">
            <a:avLst/>
          </a:prstGeom>
          <a:noFill/>
          <a:ln/>
        </p:spPr>
        <p:txBody>
          <a:bodyPr wrap="square" lIns="0" tIns="0" rIns="0" bIns="0" rtlCol="0" anchor="t"/>
          <a:lstStyle/>
          <a:p>
            <a:pPr algn="ctr" indent="0" marL="0">
              <a:lnSpc>
                <a:spcPts val="2400"/>
              </a:lnSpc>
              <a:buNone/>
            </a:pPr>
            <a:r>
              <a:rPr lang="en-US" sz="1900" b="1" dirty="0">
                <a:solidFill>
                  <a:srgbClr val="333F70"/>
                </a:solidFill>
                <a:latin typeface="Unbounded Bold" pitchFamily="34" charset="0"/>
                <a:ea typeface="Unbounded Bold" pitchFamily="34" charset="-122"/>
                <a:cs typeface="Unbounded Bold" pitchFamily="34" charset="-120"/>
              </a:rPr>
              <a:t>Skill Enhancement</a:t>
            </a:r>
            <a:endParaRPr lang="en-US" sz="1900" dirty="0"/>
          </a:p>
        </p:txBody>
      </p:sp>
      <p:sp>
        <p:nvSpPr>
          <p:cNvPr id="8" name="Text 6"/>
          <p:cNvSpPr/>
          <p:nvPr/>
        </p:nvSpPr>
        <p:spPr>
          <a:xfrm>
            <a:off x="884158" y="3734276"/>
            <a:ext cx="2773442" cy="2828925"/>
          </a:xfrm>
          <a:prstGeom prst="rect">
            <a:avLst/>
          </a:prstGeom>
          <a:noFill/>
          <a:ln/>
        </p:spPr>
        <p:txBody>
          <a:bodyPr wrap="square" lIns="0" tIns="0" rIns="0" bIns="0" rtlCol="0" anchor="t"/>
          <a:lstStyle/>
          <a:p>
            <a:pPr algn="ctr" indent="0" marL="0">
              <a:lnSpc>
                <a:spcPts val="2450"/>
              </a:lnSpc>
              <a:buNone/>
            </a:pPr>
            <a:r>
              <a:rPr lang="en-US" sz="1500" dirty="0">
                <a:solidFill>
                  <a:srgbClr val="333F70"/>
                </a:solidFill>
                <a:latin typeface="Open Sans" pitchFamily="34" charset="0"/>
                <a:ea typeface="Open Sans" pitchFamily="34" charset="-122"/>
                <a:cs typeface="Open Sans" pitchFamily="34" charset="-120"/>
              </a:rPr>
              <a:t>Our team is committed to continuous learning, with each member focusing on their specific areas of expertise. From backend development to documentation, we're all working to elevate our skills to new heights.</a:t>
            </a:r>
            <a:endParaRPr lang="en-US" sz="1500" dirty="0"/>
          </a:p>
        </p:txBody>
      </p:sp>
      <p:sp>
        <p:nvSpPr>
          <p:cNvPr id="9" name="Shape 7"/>
          <p:cNvSpPr/>
          <p:nvPr/>
        </p:nvSpPr>
        <p:spPr>
          <a:xfrm>
            <a:off x="5622131" y="2118300"/>
            <a:ext cx="22860" cy="687705"/>
          </a:xfrm>
          <a:prstGeom prst="roundRect">
            <a:avLst>
              <a:gd name="adj" fmla="val 361014"/>
            </a:avLst>
          </a:prstGeom>
          <a:solidFill>
            <a:srgbClr val="BCDBD4"/>
          </a:solidFill>
          <a:ln/>
        </p:spPr>
      </p:sp>
      <p:sp>
        <p:nvSpPr>
          <p:cNvPr id="10" name="Shape 8"/>
          <p:cNvSpPr/>
          <p:nvPr/>
        </p:nvSpPr>
        <p:spPr>
          <a:xfrm>
            <a:off x="5412581" y="1897320"/>
            <a:ext cx="442079" cy="442079"/>
          </a:xfrm>
          <a:prstGeom prst="roundRect">
            <a:avLst>
              <a:gd name="adj" fmla="val 18668"/>
            </a:avLst>
          </a:prstGeom>
          <a:solidFill>
            <a:srgbClr val="D6F5EE"/>
          </a:solidFill>
          <a:ln w="7620">
            <a:solidFill>
              <a:srgbClr val="BCDBD4"/>
            </a:solidFill>
            <a:prstDash val="solid"/>
          </a:ln>
        </p:spPr>
      </p:sp>
      <p:sp>
        <p:nvSpPr>
          <p:cNvPr id="11" name="Text 9"/>
          <p:cNvSpPr/>
          <p:nvPr/>
        </p:nvSpPr>
        <p:spPr>
          <a:xfrm>
            <a:off x="5510570" y="1970901"/>
            <a:ext cx="246102" cy="294799"/>
          </a:xfrm>
          <a:prstGeom prst="rect">
            <a:avLst/>
          </a:prstGeom>
          <a:noFill/>
          <a:ln/>
        </p:spPr>
        <p:txBody>
          <a:bodyPr wrap="none" lIns="0" tIns="0" rIns="0" bIns="0" rtlCol="0" anchor="t"/>
          <a:lstStyle/>
          <a:p>
            <a:pPr algn="ctr" indent="0" marL="0">
              <a:lnSpc>
                <a:spcPts val="2300"/>
              </a:lnSpc>
              <a:buNone/>
            </a:pPr>
            <a:r>
              <a:rPr lang="en-US" sz="2300" b="1" dirty="0">
                <a:solidFill>
                  <a:srgbClr val="333F70"/>
                </a:solidFill>
                <a:latin typeface="Unbounded Bold" pitchFamily="34" charset="0"/>
                <a:ea typeface="Unbounded Bold" pitchFamily="34" charset="-122"/>
                <a:cs typeface="Unbounded Bold" pitchFamily="34" charset="-120"/>
              </a:rPr>
              <a:t>2</a:t>
            </a:r>
            <a:endParaRPr lang="en-US" sz="2300" dirty="0"/>
          </a:p>
        </p:txBody>
      </p:sp>
      <p:sp>
        <p:nvSpPr>
          <p:cNvPr id="12" name="Text 10"/>
          <p:cNvSpPr/>
          <p:nvPr/>
        </p:nvSpPr>
        <p:spPr>
          <a:xfrm>
            <a:off x="4246959" y="3002518"/>
            <a:ext cx="2773561" cy="613886"/>
          </a:xfrm>
          <a:prstGeom prst="rect">
            <a:avLst/>
          </a:prstGeom>
          <a:noFill/>
          <a:ln/>
        </p:spPr>
        <p:txBody>
          <a:bodyPr wrap="square" lIns="0" tIns="0" rIns="0" bIns="0" rtlCol="0" anchor="t"/>
          <a:lstStyle/>
          <a:p>
            <a:pPr algn="ctr" indent="0" marL="0">
              <a:lnSpc>
                <a:spcPts val="2400"/>
              </a:lnSpc>
              <a:buNone/>
            </a:pPr>
            <a:r>
              <a:rPr lang="en-US" sz="1900" b="1" dirty="0">
                <a:solidFill>
                  <a:srgbClr val="333F70"/>
                </a:solidFill>
                <a:latin typeface="Unbounded Bold" pitchFamily="34" charset="0"/>
                <a:ea typeface="Unbounded Bold" pitchFamily="34" charset="-122"/>
                <a:cs typeface="Unbounded Bold" pitchFamily="34" charset="-120"/>
              </a:rPr>
              <a:t>Development Phase</a:t>
            </a:r>
            <a:endParaRPr lang="en-US" sz="1900" dirty="0"/>
          </a:p>
        </p:txBody>
      </p:sp>
      <p:sp>
        <p:nvSpPr>
          <p:cNvPr id="13" name="Text 11"/>
          <p:cNvSpPr/>
          <p:nvPr/>
        </p:nvSpPr>
        <p:spPr>
          <a:xfrm>
            <a:off x="4246959" y="3734276"/>
            <a:ext cx="2773561" cy="2514600"/>
          </a:xfrm>
          <a:prstGeom prst="rect">
            <a:avLst/>
          </a:prstGeom>
          <a:noFill/>
          <a:ln/>
        </p:spPr>
        <p:txBody>
          <a:bodyPr wrap="square" lIns="0" tIns="0" rIns="0" bIns="0" rtlCol="0" anchor="t"/>
          <a:lstStyle/>
          <a:p>
            <a:pPr algn="ctr" indent="0" marL="0">
              <a:lnSpc>
                <a:spcPts val="2450"/>
              </a:lnSpc>
              <a:buNone/>
            </a:pPr>
            <a:r>
              <a:rPr lang="en-US" sz="1500" dirty="0">
                <a:solidFill>
                  <a:srgbClr val="333F70"/>
                </a:solidFill>
                <a:latin typeface="Open Sans" pitchFamily="34" charset="0"/>
                <a:ea typeface="Open Sans" pitchFamily="34" charset="-122"/>
                <a:cs typeface="Open Sans" pitchFamily="34" charset="-120"/>
              </a:rPr>
              <a:t>Starting November 20th, we'll dive into the development process, with each team member tackling their designated responsibilities. Our goal is to have a functional prototype ready by mid-December.</a:t>
            </a:r>
            <a:endParaRPr lang="en-US" sz="1500" dirty="0"/>
          </a:p>
        </p:txBody>
      </p:sp>
      <p:sp>
        <p:nvSpPr>
          <p:cNvPr id="14" name="Shape 12"/>
          <p:cNvSpPr/>
          <p:nvPr/>
        </p:nvSpPr>
        <p:spPr>
          <a:xfrm>
            <a:off x="8985052" y="2118300"/>
            <a:ext cx="22860" cy="687705"/>
          </a:xfrm>
          <a:prstGeom prst="roundRect">
            <a:avLst>
              <a:gd name="adj" fmla="val 361014"/>
            </a:avLst>
          </a:prstGeom>
          <a:solidFill>
            <a:srgbClr val="BCDBD4"/>
          </a:solidFill>
          <a:ln/>
        </p:spPr>
      </p:sp>
      <p:sp>
        <p:nvSpPr>
          <p:cNvPr id="15" name="Shape 13"/>
          <p:cNvSpPr/>
          <p:nvPr/>
        </p:nvSpPr>
        <p:spPr>
          <a:xfrm>
            <a:off x="8775502" y="1897320"/>
            <a:ext cx="442079" cy="442079"/>
          </a:xfrm>
          <a:prstGeom prst="roundRect">
            <a:avLst>
              <a:gd name="adj" fmla="val 18668"/>
            </a:avLst>
          </a:prstGeom>
          <a:solidFill>
            <a:srgbClr val="D6F5EE"/>
          </a:solidFill>
          <a:ln w="7620">
            <a:solidFill>
              <a:srgbClr val="BCDBD4"/>
            </a:solidFill>
            <a:prstDash val="solid"/>
          </a:ln>
        </p:spPr>
      </p:sp>
      <p:sp>
        <p:nvSpPr>
          <p:cNvPr id="16" name="Text 14"/>
          <p:cNvSpPr/>
          <p:nvPr/>
        </p:nvSpPr>
        <p:spPr>
          <a:xfrm>
            <a:off x="8872895" y="1970901"/>
            <a:ext cx="247293" cy="294799"/>
          </a:xfrm>
          <a:prstGeom prst="rect">
            <a:avLst/>
          </a:prstGeom>
          <a:noFill/>
          <a:ln/>
        </p:spPr>
        <p:txBody>
          <a:bodyPr wrap="none" lIns="0" tIns="0" rIns="0" bIns="0" rtlCol="0" anchor="t"/>
          <a:lstStyle/>
          <a:p>
            <a:pPr algn="ctr" indent="0" marL="0">
              <a:lnSpc>
                <a:spcPts val="2300"/>
              </a:lnSpc>
              <a:buNone/>
            </a:pPr>
            <a:r>
              <a:rPr lang="en-US" sz="2300" b="1" dirty="0">
                <a:solidFill>
                  <a:srgbClr val="333F70"/>
                </a:solidFill>
                <a:latin typeface="Unbounded Bold" pitchFamily="34" charset="0"/>
                <a:ea typeface="Unbounded Bold" pitchFamily="34" charset="-122"/>
                <a:cs typeface="Unbounded Bold" pitchFamily="34" charset="-120"/>
              </a:rPr>
              <a:t>3</a:t>
            </a:r>
            <a:endParaRPr lang="en-US" sz="2300" dirty="0"/>
          </a:p>
        </p:txBody>
      </p:sp>
      <p:sp>
        <p:nvSpPr>
          <p:cNvPr id="17" name="Text 15"/>
          <p:cNvSpPr/>
          <p:nvPr/>
        </p:nvSpPr>
        <p:spPr>
          <a:xfrm>
            <a:off x="7609880" y="3002518"/>
            <a:ext cx="2773442" cy="613886"/>
          </a:xfrm>
          <a:prstGeom prst="rect">
            <a:avLst/>
          </a:prstGeom>
          <a:noFill/>
          <a:ln/>
        </p:spPr>
        <p:txBody>
          <a:bodyPr wrap="square" lIns="0" tIns="0" rIns="0" bIns="0" rtlCol="0" anchor="t"/>
          <a:lstStyle/>
          <a:p>
            <a:pPr algn="ctr" indent="0" marL="0">
              <a:lnSpc>
                <a:spcPts val="2400"/>
              </a:lnSpc>
              <a:buNone/>
            </a:pPr>
            <a:r>
              <a:rPr lang="en-US" sz="1900" b="1" dirty="0">
                <a:solidFill>
                  <a:srgbClr val="333F70"/>
                </a:solidFill>
                <a:latin typeface="Unbounded Bold" pitchFamily="34" charset="0"/>
                <a:ea typeface="Unbounded Bold" pitchFamily="34" charset="-122"/>
                <a:cs typeface="Unbounded Bold" pitchFamily="34" charset="-120"/>
              </a:rPr>
              <a:t>Testing and Refinement</a:t>
            </a:r>
            <a:endParaRPr lang="en-US" sz="1900" dirty="0"/>
          </a:p>
        </p:txBody>
      </p:sp>
      <p:sp>
        <p:nvSpPr>
          <p:cNvPr id="18" name="Text 16"/>
          <p:cNvSpPr/>
          <p:nvPr/>
        </p:nvSpPr>
        <p:spPr>
          <a:xfrm>
            <a:off x="7609880" y="3734276"/>
            <a:ext cx="2773442" cy="2514600"/>
          </a:xfrm>
          <a:prstGeom prst="rect">
            <a:avLst/>
          </a:prstGeom>
          <a:noFill/>
          <a:ln/>
        </p:spPr>
        <p:txBody>
          <a:bodyPr wrap="square" lIns="0" tIns="0" rIns="0" bIns="0" rtlCol="0" anchor="t"/>
          <a:lstStyle/>
          <a:p>
            <a:pPr algn="ctr" indent="0" marL="0">
              <a:lnSpc>
                <a:spcPts val="2450"/>
              </a:lnSpc>
              <a:buNone/>
            </a:pPr>
            <a:r>
              <a:rPr lang="en-US" sz="1500" dirty="0">
                <a:solidFill>
                  <a:srgbClr val="333F70"/>
                </a:solidFill>
                <a:latin typeface="Open Sans" pitchFamily="34" charset="0"/>
                <a:ea typeface="Open Sans" pitchFamily="34" charset="-122"/>
                <a:cs typeface="Open Sans" pitchFamily="34" charset="-120"/>
              </a:rPr>
              <a:t>As we approach December, our focus will shift to rigorous testing and debugging. We'll ensure that EventRaze not only meets but exceeds industry standards for performance and user experience.</a:t>
            </a:r>
            <a:endParaRPr lang="en-US" sz="1500" dirty="0"/>
          </a:p>
        </p:txBody>
      </p:sp>
      <p:sp>
        <p:nvSpPr>
          <p:cNvPr id="19" name="Shape 17"/>
          <p:cNvSpPr/>
          <p:nvPr/>
        </p:nvSpPr>
        <p:spPr>
          <a:xfrm>
            <a:off x="12347853" y="2118300"/>
            <a:ext cx="22860" cy="687705"/>
          </a:xfrm>
          <a:prstGeom prst="roundRect">
            <a:avLst>
              <a:gd name="adj" fmla="val 361014"/>
            </a:avLst>
          </a:prstGeom>
          <a:solidFill>
            <a:srgbClr val="BCDBD4"/>
          </a:solidFill>
          <a:ln/>
        </p:spPr>
      </p:sp>
      <p:sp>
        <p:nvSpPr>
          <p:cNvPr id="20" name="Shape 18"/>
          <p:cNvSpPr/>
          <p:nvPr/>
        </p:nvSpPr>
        <p:spPr>
          <a:xfrm>
            <a:off x="12138303" y="1897320"/>
            <a:ext cx="442079" cy="442079"/>
          </a:xfrm>
          <a:prstGeom prst="roundRect">
            <a:avLst>
              <a:gd name="adj" fmla="val 18668"/>
            </a:avLst>
          </a:prstGeom>
          <a:solidFill>
            <a:srgbClr val="D6F5EE"/>
          </a:solidFill>
          <a:ln w="7620">
            <a:solidFill>
              <a:srgbClr val="BCDBD4"/>
            </a:solidFill>
            <a:prstDash val="solid"/>
          </a:ln>
        </p:spPr>
      </p:sp>
      <p:sp>
        <p:nvSpPr>
          <p:cNvPr id="21" name="Text 19"/>
          <p:cNvSpPr/>
          <p:nvPr/>
        </p:nvSpPr>
        <p:spPr>
          <a:xfrm>
            <a:off x="12232481" y="1970901"/>
            <a:ext cx="253722" cy="294799"/>
          </a:xfrm>
          <a:prstGeom prst="rect">
            <a:avLst/>
          </a:prstGeom>
          <a:noFill/>
          <a:ln/>
        </p:spPr>
        <p:txBody>
          <a:bodyPr wrap="none" lIns="0" tIns="0" rIns="0" bIns="0" rtlCol="0" anchor="t"/>
          <a:lstStyle/>
          <a:p>
            <a:pPr algn="ctr" indent="0" marL="0">
              <a:lnSpc>
                <a:spcPts val="2300"/>
              </a:lnSpc>
              <a:buNone/>
            </a:pPr>
            <a:r>
              <a:rPr lang="en-US" sz="2300" b="1" dirty="0">
                <a:solidFill>
                  <a:srgbClr val="333F70"/>
                </a:solidFill>
                <a:latin typeface="Unbounded Bold" pitchFamily="34" charset="0"/>
                <a:ea typeface="Unbounded Bold" pitchFamily="34" charset="-122"/>
                <a:cs typeface="Unbounded Bold" pitchFamily="34" charset="-120"/>
              </a:rPr>
              <a:t>4</a:t>
            </a:r>
            <a:endParaRPr lang="en-US" sz="2300" dirty="0"/>
          </a:p>
        </p:txBody>
      </p:sp>
      <p:sp>
        <p:nvSpPr>
          <p:cNvPr id="22" name="Text 20"/>
          <p:cNvSpPr/>
          <p:nvPr/>
        </p:nvSpPr>
        <p:spPr>
          <a:xfrm>
            <a:off x="10972681" y="3002518"/>
            <a:ext cx="2773561" cy="613886"/>
          </a:xfrm>
          <a:prstGeom prst="rect">
            <a:avLst/>
          </a:prstGeom>
          <a:noFill/>
          <a:ln/>
        </p:spPr>
        <p:txBody>
          <a:bodyPr wrap="square" lIns="0" tIns="0" rIns="0" bIns="0" rtlCol="0" anchor="t"/>
          <a:lstStyle/>
          <a:p>
            <a:pPr algn="ctr" indent="0" marL="0">
              <a:lnSpc>
                <a:spcPts val="2400"/>
              </a:lnSpc>
              <a:buNone/>
            </a:pPr>
            <a:r>
              <a:rPr lang="en-US" sz="1900" b="1" dirty="0">
                <a:solidFill>
                  <a:srgbClr val="333F70"/>
                </a:solidFill>
                <a:latin typeface="Unbounded Bold" pitchFamily="34" charset="0"/>
                <a:ea typeface="Unbounded Bold" pitchFamily="34" charset="-122"/>
                <a:cs typeface="Unbounded Bold" pitchFamily="34" charset="-120"/>
              </a:rPr>
              <a:t>Launch and Beyond</a:t>
            </a:r>
            <a:endParaRPr lang="en-US" sz="1900" dirty="0"/>
          </a:p>
        </p:txBody>
      </p:sp>
      <p:sp>
        <p:nvSpPr>
          <p:cNvPr id="23" name="Text 21"/>
          <p:cNvSpPr/>
          <p:nvPr/>
        </p:nvSpPr>
        <p:spPr>
          <a:xfrm>
            <a:off x="10972681" y="3734276"/>
            <a:ext cx="2773561" cy="2514600"/>
          </a:xfrm>
          <a:prstGeom prst="rect">
            <a:avLst/>
          </a:prstGeom>
          <a:noFill/>
          <a:ln/>
        </p:spPr>
        <p:txBody>
          <a:bodyPr wrap="square" lIns="0" tIns="0" rIns="0" bIns="0" rtlCol="0" anchor="t"/>
          <a:lstStyle/>
          <a:p>
            <a:pPr algn="ctr" indent="0" marL="0">
              <a:lnSpc>
                <a:spcPts val="2450"/>
              </a:lnSpc>
              <a:buNone/>
            </a:pPr>
            <a:r>
              <a:rPr lang="en-US" sz="1500" dirty="0">
                <a:solidFill>
                  <a:srgbClr val="333F70"/>
                </a:solidFill>
                <a:latin typeface="Open Sans" pitchFamily="34" charset="0"/>
                <a:ea typeface="Open Sans" pitchFamily="34" charset="-122"/>
                <a:cs typeface="Open Sans" pitchFamily="34" charset="-120"/>
              </a:rPr>
              <a:t>Post-December 15th, we'll be preparing for the official launch of EventRaze. Our journey doesn't end there – we're committed to continuous improvement and feature expansion based on user feedback.</a:t>
            </a:r>
            <a:endParaRPr lang="en-US" sz="1500" dirty="0"/>
          </a:p>
        </p:txBody>
      </p:sp>
      <p:sp>
        <p:nvSpPr>
          <p:cNvPr id="24" name="Text 22"/>
          <p:cNvSpPr/>
          <p:nvPr/>
        </p:nvSpPr>
        <p:spPr>
          <a:xfrm>
            <a:off x="687705" y="6784181"/>
            <a:ext cx="13254990" cy="628650"/>
          </a:xfrm>
          <a:prstGeom prst="rect">
            <a:avLst/>
          </a:prstGeom>
          <a:noFill/>
          <a:ln/>
        </p:spPr>
        <p:txBody>
          <a:bodyPr wrap="square" lIns="0" tIns="0" rIns="0" bIns="0" rtlCol="0" anchor="t"/>
          <a:lstStyle/>
          <a:p>
            <a:pPr indent="0" marL="0">
              <a:lnSpc>
                <a:spcPts val="2450"/>
              </a:lnSpc>
              <a:buNone/>
            </a:pPr>
            <a:r>
              <a:rPr lang="en-US" sz="1500" dirty="0">
                <a:solidFill>
                  <a:srgbClr val="333F70"/>
                </a:solidFill>
                <a:latin typeface="Open Sans" pitchFamily="34" charset="0"/>
                <a:ea typeface="Open Sans" pitchFamily="34" charset="-122"/>
                <a:cs typeface="Open Sans" pitchFamily="34" charset="-120"/>
              </a:rPr>
              <a:t>As we embark on this exciting development journey, we're not just building a product – we're cultivating expertise that will drive innovation in the event management industry. EventRaze is poised to revolutionize how events are planned, executed, and experienced.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864525"/>
            <a:ext cx="5670590" cy="708779"/>
          </a:xfrm>
          <a:prstGeom prst="rect">
            <a:avLst/>
          </a:prstGeom>
          <a:noFill/>
          <a:ln/>
        </p:spPr>
        <p:txBody>
          <a:bodyPr wrap="none" lIns="0" tIns="0" rIns="0" bIns="0" rtlCol="0" anchor="t"/>
          <a:lstStyle/>
          <a:p>
            <a:pPr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Thank You </a:t>
            </a:r>
            <a:endParaRPr lang="en-US" sz="4450" dirty="0"/>
          </a:p>
        </p:txBody>
      </p:sp>
      <p:sp>
        <p:nvSpPr>
          <p:cNvPr id="4" name="Text 1"/>
          <p:cNvSpPr/>
          <p:nvPr/>
        </p:nvSpPr>
        <p:spPr>
          <a:xfrm>
            <a:off x="793790" y="3913465"/>
            <a:ext cx="7556421" cy="1451610"/>
          </a:xfrm>
          <a:prstGeom prst="rect">
            <a:avLst/>
          </a:prstGeom>
          <a:noFill/>
          <a:ln/>
        </p:spPr>
        <p:txBody>
          <a:bodyPr wrap="square" lIns="0" tIns="0" rIns="0" bIns="0" rtlCol="0" anchor="t"/>
          <a:lstStyle/>
          <a:p>
            <a:pPr indent="0" marL="0">
              <a:lnSpc>
                <a:spcPts val="2850"/>
              </a:lnSpc>
              <a:buNone/>
            </a:pPr>
            <a:r>
              <a:rPr lang="en-US" sz="1750" dirty="0">
                <a:solidFill>
                  <a:srgbClr val="333F70"/>
                </a:solidFill>
                <a:latin typeface="Open Sans" pitchFamily="34" charset="0"/>
                <a:ea typeface="Open Sans" pitchFamily="34" charset="-122"/>
                <a:cs typeface="Open Sans" pitchFamily="34" charset="-120"/>
              </a:rPr>
              <a:t>As we conclude our presentation on EventRaze, we're excited to continue our journey towards revolutionizing event management. Your support and input have been invaluable, and we're grateful for the opportunity to showcase our vision.</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2024-11-27T18:49:15Z</dcterms:created>
  <dcterms:modified xsi:type="dcterms:W3CDTF">2024-11-27T18:49:15Z</dcterms:modified>
</cp:coreProperties>
</file>